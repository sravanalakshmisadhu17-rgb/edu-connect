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145F0B-CCF5-1982-ABBF-5633A9F8509B}" v="42" dt="2026-08-18T05:45:30.215"/>
    <p1510:client id="{EA7170C0-1E2B-4B99-8E9A-07F70BC1B972}" v="227" dt="2026-08-18T05:57:12.0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avana Lakskmi Sadhu" userId="a79f4e0bf8206713" providerId="LiveId" clId="{C139EEA4-0E41-4A64-9FDA-F2D328B196E9}"/>
    <pc:docChg chg="custSel addSld delSld modSld sldOrd">
      <pc:chgData name="Sravana Lakskmi Sadhu" userId="a79f4e0bf8206713" providerId="LiveId" clId="{C139EEA4-0E41-4A64-9FDA-F2D328B196E9}" dt="2026-08-18T05:57:12.055" v="247"/>
      <pc:docMkLst>
        <pc:docMk/>
      </pc:docMkLst>
      <pc:sldChg chg="delSp modSp mod modTransition">
        <pc:chgData name="Sravana Lakskmi Sadhu" userId="a79f4e0bf8206713" providerId="LiveId" clId="{C139EEA4-0E41-4A64-9FDA-F2D328B196E9}" dt="2026-08-18T05:55:25.768" v="234"/>
        <pc:sldMkLst>
          <pc:docMk/>
          <pc:sldMk cId="0" sldId="256"/>
        </pc:sldMkLst>
        <pc:spChg chg="del mod">
          <ac:chgData name="Sravana Lakskmi Sadhu" userId="a79f4e0bf8206713" providerId="LiveId" clId="{C139EEA4-0E41-4A64-9FDA-F2D328B196E9}" dt="2026-08-17T16:37:55.808" v="1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Sravana Lakskmi Sadhu" userId="a79f4e0bf8206713" providerId="LiveId" clId="{C139EEA4-0E41-4A64-9FDA-F2D328B196E9}" dt="2026-08-18T04:58:46.497" v="52" actId="14100"/>
          <ac:spMkLst>
            <pc:docMk/>
            <pc:sldMk cId="0" sldId="256"/>
            <ac:spMk id="11" creationId="{00000000-0000-0000-0000-000000000000}"/>
          </ac:spMkLst>
        </pc:spChg>
        <pc:spChg chg="mod">
          <ac:chgData name="Sravana Lakskmi Sadhu" userId="a79f4e0bf8206713" providerId="LiveId" clId="{C139EEA4-0E41-4A64-9FDA-F2D328B196E9}" dt="2026-08-18T04:58:23.185" v="34" actId="20577"/>
          <ac:spMkLst>
            <pc:docMk/>
            <pc:sldMk cId="0" sldId="256"/>
            <ac:spMk id="12" creationId="{00000000-0000-0000-0000-000000000000}"/>
          </ac:spMkLst>
        </pc:spChg>
      </pc:sldChg>
      <pc:sldChg chg="modTransition">
        <pc:chgData name="Sravana Lakskmi Sadhu" userId="a79f4e0bf8206713" providerId="LiveId" clId="{C139EEA4-0E41-4A64-9FDA-F2D328B196E9}" dt="2026-08-18T05:55:34.008" v="235"/>
        <pc:sldMkLst>
          <pc:docMk/>
          <pc:sldMk cId="0" sldId="257"/>
        </pc:sldMkLst>
      </pc:sldChg>
      <pc:sldChg chg="modSp mod modTransition">
        <pc:chgData name="Sravana Lakskmi Sadhu" userId="a79f4e0bf8206713" providerId="LiveId" clId="{C139EEA4-0E41-4A64-9FDA-F2D328B196E9}" dt="2026-08-18T05:56:02.119" v="236"/>
        <pc:sldMkLst>
          <pc:docMk/>
          <pc:sldMk cId="0" sldId="258"/>
        </pc:sldMkLst>
        <pc:spChg chg="mod">
          <ac:chgData name="Sravana Lakskmi Sadhu" userId="a79f4e0bf8206713" providerId="LiveId" clId="{C139EEA4-0E41-4A64-9FDA-F2D328B196E9}" dt="2026-08-18T05:04:32.729" v="140" actId="14100"/>
          <ac:spMkLst>
            <pc:docMk/>
            <pc:sldMk cId="0" sldId="258"/>
            <ac:spMk id="3" creationId="{00000000-0000-0000-0000-000000000000}"/>
          </ac:spMkLst>
        </pc:spChg>
        <pc:spChg chg="mod">
          <ac:chgData name="Sravana Lakskmi Sadhu" userId="a79f4e0bf8206713" providerId="LiveId" clId="{C139EEA4-0E41-4A64-9FDA-F2D328B196E9}" dt="2026-08-18T05:04:24.856" v="139" actId="1076"/>
          <ac:spMkLst>
            <pc:docMk/>
            <pc:sldMk cId="0" sldId="258"/>
            <ac:spMk id="4" creationId="{00000000-0000-0000-0000-000000000000}"/>
          </ac:spMkLst>
        </pc:spChg>
        <pc:spChg chg="mod">
          <ac:chgData name="Sravana Lakskmi Sadhu" userId="a79f4e0bf8206713" providerId="LiveId" clId="{C139EEA4-0E41-4A64-9FDA-F2D328B196E9}" dt="2026-08-18T05:15:28.194" v="230" actId="20577"/>
          <ac:spMkLst>
            <pc:docMk/>
            <pc:sldMk cId="0" sldId="258"/>
            <ac:spMk id="7" creationId="{00000000-0000-0000-0000-000000000000}"/>
          </ac:spMkLst>
        </pc:spChg>
      </pc:sldChg>
      <pc:sldChg chg="modSp mod modTransition">
        <pc:chgData name="Sravana Lakskmi Sadhu" userId="a79f4e0bf8206713" providerId="LiveId" clId="{C139EEA4-0E41-4A64-9FDA-F2D328B196E9}" dt="2026-08-18T05:56:13.957" v="237"/>
        <pc:sldMkLst>
          <pc:docMk/>
          <pc:sldMk cId="0" sldId="259"/>
        </pc:sldMkLst>
        <pc:spChg chg="mod">
          <ac:chgData name="Sravana Lakskmi Sadhu" userId="a79f4e0bf8206713" providerId="LiveId" clId="{C139EEA4-0E41-4A64-9FDA-F2D328B196E9}" dt="2026-08-18T05:14:29.510" v="210" actId="20577"/>
          <ac:spMkLst>
            <pc:docMk/>
            <pc:sldMk cId="0" sldId="259"/>
            <ac:spMk id="7" creationId="{00000000-0000-0000-0000-000000000000}"/>
          </ac:spMkLst>
        </pc:spChg>
      </pc:sldChg>
      <pc:sldChg chg="modSp mod modTransition">
        <pc:chgData name="Sravana Lakskmi Sadhu" userId="a79f4e0bf8206713" providerId="LiveId" clId="{C139EEA4-0E41-4A64-9FDA-F2D328B196E9}" dt="2026-08-18T05:56:21.454" v="238"/>
        <pc:sldMkLst>
          <pc:docMk/>
          <pc:sldMk cId="0" sldId="260"/>
        </pc:sldMkLst>
        <pc:spChg chg="mod">
          <ac:chgData name="Sravana Lakskmi Sadhu" userId="a79f4e0bf8206713" providerId="LiveId" clId="{C139EEA4-0E41-4A64-9FDA-F2D328B196E9}" dt="2026-08-18T05:14:33.167" v="212" actId="20577"/>
          <ac:spMkLst>
            <pc:docMk/>
            <pc:sldMk cId="0" sldId="260"/>
            <ac:spMk id="7" creationId="{00000000-0000-0000-0000-000000000000}"/>
          </ac:spMkLst>
        </pc:spChg>
      </pc:sldChg>
      <pc:sldChg chg="modSp mod modTransition">
        <pc:chgData name="Sravana Lakskmi Sadhu" userId="a79f4e0bf8206713" providerId="LiveId" clId="{C139EEA4-0E41-4A64-9FDA-F2D328B196E9}" dt="2026-08-18T05:56:27.634" v="239"/>
        <pc:sldMkLst>
          <pc:docMk/>
          <pc:sldMk cId="0" sldId="261"/>
        </pc:sldMkLst>
        <pc:spChg chg="mod">
          <ac:chgData name="Sravana Lakskmi Sadhu" userId="a79f4e0bf8206713" providerId="LiveId" clId="{C139EEA4-0E41-4A64-9FDA-F2D328B196E9}" dt="2026-08-18T05:14:37.488" v="214" actId="20577"/>
          <ac:spMkLst>
            <pc:docMk/>
            <pc:sldMk cId="0" sldId="261"/>
            <ac:spMk id="7" creationId="{00000000-0000-0000-0000-000000000000}"/>
          </ac:spMkLst>
        </pc:spChg>
        <pc:spChg chg="mod">
          <ac:chgData name="Sravana Lakskmi Sadhu" userId="a79f4e0bf8206713" providerId="LiveId" clId="{C139EEA4-0E41-4A64-9FDA-F2D328B196E9}" dt="2026-08-18T05:24:15.475" v="233" actId="1036"/>
          <ac:spMkLst>
            <pc:docMk/>
            <pc:sldMk cId="0" sldId="261"/>
            <ac:spMk id="10" creationId="{00000000-0000-0000-0000-000000000000}"/>
          </ac:spMkLst>
        </pc:spChg>
      </pc:sldChg>
      <pc:sldChg chg="modSp mod modTransition">
        <pc:chgData name="Sravana Lakskmi Sadhu" userId="a79f4e0bf8206713" providerId="LiveId" clId="{C139EEA4-0E41-4A64-9FDA-F2D328B196E9}" dt="2026-08-18T05:56:31.648" v="240"/>
        <pc:sldMkLst>
          <pc:docMk/>
          <pc:sldMk cId="0" sldId="262"/>
        </pc:sldMkLst>
        <pc:spChg chg="mod">
          <ac:chgData name="Sravana Lakskmi Sadhu" userId="a79f4e0bf8206713" providerId="LiveId" clId="{C139EEA4-0E41-4A64-9FDA-F2D328B196E9}" dt="2026-08-18T05:14:41.938" v="216" actId="20577"/>
          <ac:spMkLst>
            <pc:docMk/>
            <pc:sldMk cId="0" sldId="262"/>
            <ac:spMk id="7" creationId="{00000000-0000-0000-0000-000000000000}"/>
          </ac:spMkLst>
        </pc:spChg>
      </pc:sldChg>
      <pc:sldChg chg="modSp mod modTransition">
        <pc:chgData name="Sravana Lakskmi Sadhu" userId="a79f4e0bf8206713" providerId="LiveId" clId="{C139EEA4-0E41-4A64-9FDA-F2D328B196E9}" dt="2026-08-18T05:56:38.008" v="241"/>
        <pc:sldMkLst>
          <pc:docMk/>
          <pc:sldMk cId="0" sldId="263"/>
        </pc:sldMkLst>
        <pc:spChg chg="mod">
          <ac:chgData name="Sravana Lakskmi Sadhu" userId="a79f4e0bf8206713" providerId="LiveId" clId="{C139EEA4-0E41-4A64-9FDA-F2D328B196E9}" dt="2026-08-18T05:14:46.513" v="218" actId="20577"/>
          <ac:spMkLst>
            <pc:docMk/>
            <pc:sldMk cId="0" sldId="263"/>
            <ac:spMk id="7" creationId="{00000000-0000-0000-0000-000000000000}"/>
          </ac:spMkLst>
        </pc:spChg>
      </pc:sldChg>
      <pc:sldChg chg="modSp mod modTransition">
        <pc:chgData name="Sravana Lakskmi Sadhu" userId="a79f4e0bf8206713" providerId="LiveId" clId="{C139EEA4-0E41-4A64-9FDA-F2D328B196E9}" dt="2026-08-18T05:56:44.799" v="242"/>
        <pc:sldMkLst>
          <pc:docMk/>
          <pc:sldMk cId="0" sldId="264"/>
        </pc:sldMkLst>
        <pc:spChg chg="mod">
          <ac:chgData name="Sravana Lakskmi Sadhu" userId="a79f4e0bf8206713" providerId="LiveId" clId="{C139EEA4-0E41-4A64-9FDA-F2D328B196E9}" dt="2026-08-18T05:14:51.180" v="220" actId="20577"/>
          <ac:spMkLst>
            <pc:docMk/>
            <pc:sldMk cId="0" sldId="264"/>
            <ac:spMk id="7" creationId="{00000000-0000-0000-0000-000000000000}"/>
          </ac:spMkLst>
        </pc:spChg>
      </pc:sldChg>
      <pc:sldChg chg="modSp mod modTransition">
        <pc:chgData name="Sravana Lakskmi Sadhu" userId="a79f4e0bf8206713" providerId="LiveId" clId="{C139EEA4-0E41-4A64-9FDA-F2D328B196E9}" dt="2026-08-18T05:56:49.031" v="243"/>
        <pc:sldMkLst>
          <pc:docMk/>
          <pc:sldMk cId="0" sldId="265"/>
        </pc:sldMkLst>
        <pc:spChg chg="mod">
          <ac:chgData name="Sravana Lakskmi Sadhu" userId="a79f4e0bf8206713" providerId="LiveId" clId="{C139EEA4-0E41-4A64-9FDA-F2D328B196E9}" dt="2026-08-18T05:14:55.221" v="222" actId="20577"/>
          <ac:spMkLst>
            <pc:docMk/>
            <pc:sldMk cId="0" sldId="265"/>
            <ac:spMk id="7" creationId="{00000000-0000-0000-0000-000000000000}"/>
          </ac:spMkLst>
        </pc:spChg>
      </pc:sldChg>
      <pc:sldChg chg="modSp mod modTransition">
        <pc:chgData name="Sravana Lakskmi Sadhu" userId="a79f4e0bf8206713" providerId="LiveId" clId="{C139EEA4-0E41-4A64-9FDA-F2D328B196E9}" dt="2026-08-18T05:56:55.405" v="244"/>
        <pc:sldMkLst>
          <pc:docMk/>
          <pc:sldMk cId="0" sldId="266"/>
        </pc:sldMkLst>
        <pc:spChg chg="mod">
          <ac:chgData name="Sravana Lakskmi Sadhu" userId="a79f4e0bf8206713" providerId="LiveId" clId="{C139EEA4-0E41-4A64-9FDA-F2D328B196E9}" dt="2026-08-18T05:14:59.605" v="225" actId="20577"/>
          <ac:spMkLst>
            <pc:docMk/>
            <pc:sldMk cId="0" sldId="266"/>
            <ac:spMk id="7" creationId="{00000000-0000-0000-0000-000000000000}"/>
          </ac:spMkLst>
        </pc:spChg>
      </pc:sldChg>
      <pc:sldChg chg="modSp mod modTransition">
        <pc:chgData name="Sravana Lakskmi Sadhu" userId="a79f4e0bf8206713" providerId="LiveId" clId="{C139EEA4-0E41-4A64-9FDA-F2D328B196E9}" dt="2026-08-18T05:57:00.770" v="245"/>
        <pc:sldMkLst>
          <pc:docMk/>
          <pc:sldMk cId="0" sldId="267"/>
        </pc:sldMkLst>
        <pc:spChg chg="mod">
          <ac:chgData name="Sravana Lakskmi Sadhu" userId="a79f4e0bf8206713" providerId="LiveId" clId="{C139EEA4-0E41-4A64-9FDA-F2D328B196E9}" dt="2026-08-18T05:15:03.218" v="227" actId="20577"/>
          <ac:spMkLst>
            <pc:docMk/>
            <pc:sldMk cId="0" sldId="267"/>
            <ac:spMk id="7" creationId="{00000000-0000-0000-0000-000000000000}"/>
          </ac:spMkLst>
        </pc:spChg>
      </pc:sldChg>
      <pc:sldChg chg="modTransition">
        <pc:chgData name="Sravana Lakskmi Sadhu" userId="a79f4e0bf8206713" providerId="LiveId" clId="{C139EEA4-0E41-4A64-9FDA-F2D328B196E9}" dt="2026-08-18T05:57:12.055" v="247"/>
        <pc:sldMkLst>
          <pc:docMk/>
          <pc:sldMk cId="0" sldId="268"/>
        </pc:sldMkLst>
      </pc:sldChg>
      <pc:sldChg chg="modSp mod ord modTransition">
        <pc:chgData name="Sravana Lakskmi Sadhu" userId="a79f4e0bf8206713" providerId="LiveId" clId="{C139EEA4-0E41-4A64-9FDA-F2D328B196E9}" dt="2026-08-18T05:57:05.388" v="246"/>
        <pc:sldMkLst>
          <pc:docMk/>
          <pc:sldMk cId="0" sldId="269"/>
        </pc:sldMkLst>
        <pc:spChg chg="mod">
          <ac:chgData name="Sravana Lakskmi Sadhu" userId="a79f4e0bf8206713" providerId="LiveId" clId="{C139EEA4-0E41-4A64-9FDA-F2D328B196E9}" dt="2026-08-18T05:15:07.854" v="229" actId="20577"/>
          <ac:spMkLst>
            <pc:docMk/>
            <pc:sldMk cId="0" sldId="269"/>
            <ac:spMk id="6" creationId="{00000000-0000-0000-0000-000000000000}"/>
          </ac:spMkLst>
        </pc:spChg>
      </pc:sldChg>
      <pc:sldChg chg="new del">
        <pc:chgData name="Sravana Lakskmi Sadhu" userId="a79f4e0bf8206713" providerId="LiveId" clId="{C139EEA4-0E41-4A64-9FDA-F2D328B196E9}" dt="2026-08-18T05:21:32.671" v="232" actId="2696"/>
        <pc:sldMkLst>
          <pc:docMk/>
          <pc:sldMk cId="1428350451" sldId="270"/>
        </pc:sldMkLst>
      </pc:sldChg>
    </pc:docChg>
  </pc:docChgLst>
  <pc:docChgLst>
    <pc:chgData name="Guest User" providerId="Windows Live" clId="Web-{70145F0B-CCF5-1982-ABBF-5633A9F8509B}"/>
    <pc:docChg chg="modSld">
      <pc:chgData name="Guest User" userId="" providerId="Windows Live" clId="Web-{70145F0B-CCF5-1982-ABBF-5633A9F8509B}" dt="2026-08-18T05:45:29.028" v="27" actId="20577"/>
      <pc:docMkLst>
        <pc:docMk/>
      </pc:docMkLst>
      <pc:sldChg chg="modSp">
        <pc:chgData name="Guest User" userId="" providerId="Windows Live" clId="Web-{70145F0B-CCF5-1982-ABBF-5633A9F8509B}" dt="2026-08-18T05:45:29.028" v="27" actId="20577"/>
        <pc:sldMkLst>
          <pc:docMk/>
          <pc:sldMk cId="0" sldId="265"/>
        </pc:sldMkLst>
        <pc:spChg chg="mod">
          <ac:chgData name="Guest User" userId="" providerId="Windows Live" clId="Web-{70145F0B-CCF5-1982-ABBF-5633A9F8509B}" dt="2026-08-18T05:45:29.028" v="27" actId="20577"/>
          <ac:spMkLst>
            <pc:docMk/>
            <pc:sldMk cId="0" sldId="265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B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7315200" y="-365760"/>
            <a:ext cx="5303520" cy="3657600"/>
          </a:xfrm>
          <a:prstGeom prst="parallelogram">
            <a:avLst/>
          </a:prstGeom>
          <a:solidFill>
            <a:srgbClr val="18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8229600" y="914400"/>
            <a:ext cx="4023360" cy="3108960"/>
          </a:xfrm>
          <a:prstGeom prst="parallelogram">
            <a:avLst/>
          </a:prstGeom>
          <a:solidFill>
            <a:srgbClr val="48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Hexagon 4"/>
          <p:cNvSpPr/>
          <p:nvPr/>
        </p:nvSpPr>
        <p:spPr>
          <a:xfrm>
            <a:off x="8595360" y="3566160"/>
            <a:ext cx="1828800" cy="2103120"/>
          </a:xfrm>
          <a:prstGeom prst="hexagon">
            <a:avLst/>
          </a:prstGeom>
          <a:solidFill>
            <a:srgbClr val="3CD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332720" y="4983480"/>
            <a:ext cx="1005840" cy="1005840"/>
          </a:xfrm>
          <a:prstGeom prst="ellipse">
            <a:avLst/>
          </a:prstGeom>
          <a:solidFill>
            <a:srgbClr val="F5B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85800"/>
            <a:ext cx="3200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F5B736"/>
                </a:solidFill>
                <a:latin typeface="Aptos"/>
              </a:rPr>
              <a:t>PROJECT REVIEW –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649224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Smart Learning Management System
with Distributed Backend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017520"/>
            <a:ext cx="5852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8B5E8"/>
                </a:solidFill>
                <a:latin typeface="Aptos"/>
              </a:rPr>
              <a:t>Literature Review &amp; Research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7953" y="3763299"/>
            <a:ext cx="1998617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1400" b="1">
                <a:solidFill>
                  <a:srgbClr val="F5B736"/>
                </a:solidFill>
                <a:latin typeface="Aptos"/>
              </a:rPr>
              <a:t>Group Number:- 11</a:t>
            </a:r>
            <a:endParaRPr sz="1400" b="1">
              <a:solidFill>
                <a:srgbClr val="F5B736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7954" y="4506426"/>
            <a:ext cx="4754880" cy="9541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Aptos"/>
              </a:rPr>
              <a:t>Tanu Sri – 2510080020
Deekshitha – 2510080059
Arshitha – 2510080063
Sravana Lakshmi – 2510080065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841248"/>
          </a:xfrm>
          <a:prstGeom prst="rect">
            <a:avLst/>
          </a:prstGeom>
          <a:solidFill>
            <a:srgbClr val="08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841248"/>
            <a:ext cx="12027103" cy="64008"/>
          </a:xfrm>
          <a:prstGeom prst="rect">
            <a:avLst/>
          </a:prstGeom>
          <a:solidFill>
            <a:srgbClr val="48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10698480" y="-73152"/>
            <a:ext cx="1554480" cy="1051560"/>
          </a:xfrm>
          <a:prstGeom prst="parallelogram">
            <a:avLst/>
          </a:prstGeom>
          <a:solidFill>
            <a:srgbClr val="18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201400" y="146304"/>
            <a:ext cx="384048" cy="530352"/>
          </a:xfrm>
          <a:prstGeom prst="ellipse">
            <a:avLst/>
          </a:prstGeom>
          <a:solidFill>
            <a:srgbClr val="3CD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37160"/>
            <a:ext cx="90525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1. Project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Aptos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234440"/>
            <a:ext cx="53949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481328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85BBE"/>
                </a:solidFill>
                <a:latin typeface="Aptos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470916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1">
                <a:solidFill>
                  <a:srgbClr val="27374E"/>
                </a:solidFill>
                <a:latin typeface="Aptos"/>
              </a:rPr>
              <a:t>Conventional LMS platforms can become tightly coupled, difficult to scale, and less flexible when new services are added.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234440"/>
            <a:ext cx="51663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481328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3CD3D7"/>
                </a:solidFill>
                <a:latin typeface="Aptos"/>
              </a:rPr>
              <a:t>OUR 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828800"/>
            <a:ext cx="45262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7374E"/>
                </a:solidFill>
                <a:latin typeface="Aptos"/>
              </a:defRPr>
            </a:pPr>
            <a:r>
              <a:t>Design an LMS with independent services for users, courses/content, assessments/progress, analytics, and API/authentication.</a:t>
            </a:r>
          </a:p>
          <a:p>
            <a:pPr>
              <a:spcAft>
                <a:spcPts val="1000"/>
              </a:spcAft>
              <a:defRPr sz="1700">
                <a:solidFill>
                  <a:srgbClr val="27374E"/>
                </a:solidFill>
                <a:latin typeface="Aptos"/>
              </a:defRPr>
            </a:pPr>
            <a:r>
              <a:t>Expected benefits: scalability, maintainability, fault isolation, easier integration, and extensibility.</a:t>
            </a:r>
          </a:p>
          <a:p>
            <a:pPr>
              <a:spcAft>
                <a:spcPts val="1000"/>
              </a:spcAft>
              <a:defRPr sz="1700">
                <a:solidFill>
                  <a:srgbClr val="27374E"/>
                </a:solidFill>
                <a:latin typeface="Aptos"/>
              </a:defRPr>
            </a:pPr>
            <a:r>
              <a:t>Core idea: combine distributed backend architecture with data-driven learning support.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-1"/>
            <a:ext cx="12027103" cy="1007437"/>
          </a:xfrm>
          <a:prstGeom prst="rect">
            <a:avLst/>
          </a:prstGeom>
          <a:solidFill>
            <a:srgbClr val="08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1007437"/>
            <a:ext cx="12027103" cy="64008"/>
          </a:xfrm>
          <a:prstGeom prst="rect">
            <a:avLst/>
          </a:prstGeom>
          <a:solidFill>
            <a:srgbClr val="48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10698480" y="-73152"/>
            <a:ext cx="1554480" cy="1051560"/>
          </a:xfrm>
          <a:prstGeom prst="parallelogram">
            <a:avLst/>
          </a:prstGeom>
          <a:solidFill>
            <a:srgbClr val="18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201400" y="146304"/>
            <a:ext cx="384048" cy="530352"/>
          </a:xfrm>
          <a:prstGeom prst="ellipse">
            <a:avLst/>
          </a:prstGeom>
          <a:solidFill>
            <a:srgbClr val="3CD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65190"/>
            <a:ext cx="9052560" cy="4770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500" b="1">
                <a:solidFill>
                  <a:srgbClr val="FFFFFF"/>
                </a:solidFill>
                <a:latin typeface="Aptos"/>
              </a:rPr>
              <a:t>2</a:t>
            </a:r>
            <a:r>
              <a:rPr sz="2500" b="1">
                <a:solidFill>
                  <a:srgbClr val="FFFFFF"/>
                </a:solidFill>
                <a:latin typeface="Aptos"/>
              </a:rPr>
              <a:t>.</a:t>
            </a:r>
            <a:r>
              <a:rPr lang="en-US" sz="2500" b="1">
                <a:solidFill>
                  <a:srgbClr val="FFFFFF"/>
                </a:solidFill>
                <a:latin typeface="Aptos"/>
              </a:rPr>
              <a:t>Paper 1-</a:t>
            </a:r>
            <a:r>
              <a:rPr sz="2500" b="1">
                <a:solidFill>
                  <a:srgbClr val="FFFFFF"/>
                </a:solidFill>
                <a:latin typeface="Aptos"/>
              </a:rPr>
              <a:t> Microservice Architecture for LMS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Apto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143000"/>
            <a:ext cx="10789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81E3D"/>
                </a:solidFill>
                <a:latin typeface="Aptos"/>
              </a:rPr>
              <a:t>Niemelä &amp; Hyyrö (2019) — “Migrating learning management systems towards microservice architecture.”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7374E"/>
                </a:solidFill>
                <a:latin typeface="Aptos"/>
              </a:defRPr>
            </a:pPr>
            <a:r>
              <a:t>Method: examines WETO and Plussa through a microservice-architecture lens and proposes an ideal decoupled LMS.</a:t>
            </a:r>
          </a:p>
          <a:p>
            <a:pPr>
              <a:spcAft>
                <a:spcPts val="1000"/>
              </a:spcAft>
              <a:defRPr sz="1700">
                <a:solidFill>
                  <a:srgbClr val="27374E"/>
                </a:solidFill>
                <a:latin typeface="Aptos"/>
              </a:defRPr>
            </a:pPr>
            <a:r>
              <a:t>Technique: modular, independent and fault-tolerant services that can be orchestrated as education-service compositions.</a:t>
            </a:r>
          </a:p>
          <a:p>
            <a:pPr>
              <a:spcAft>
                <a:spcPts val="1000"/>
              </a:spcAft>
              <a:defRPr sz="1700">
                <a:solidFill>
                  <a:srgbClr val="27374E"/>
                </a:solidFill>
                <a:latin typeface="Aptos"/>
              </a:defRPr>
            </a:pPr>
            <a:r>
              <a:t>Finding: education needs configurable, open and composable microservice-based LMS solutions.</a:t>
            </a:r>
          </a:p>
          <a:p>
            <a:pPr>
              <a:spcAft>
                <a:spcPts val="1000"/>
              </a:spcAft>
              <a:defRPr sz="1700">
                <a:solidFill>
                  <a:srgbClr val="27374E"/>
                </a:solidFill>
                <a:latin typeface="Aptos"/>
              </a:defRPr>
            </a:pPr>
            <a:r>
              <a:t>Relevance: directly supports our distributed backend design and service decomposition.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841248"/>
          </a:xfrm>
          <a:prstGeom prst="rect">
            <a:avLst/>
          </a:prstGeom>
          <a:solidFill>
            <a:srgbClr val="08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841248"/>
            <a:ext cx="12027103" cy="64008"/>
          </a:xfrm>
          <a:prstGeom prst="rect">
            <a:avLst/>
          </a:prstGeom>
          <a:solidFill>
            <a:srgbClr val="48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10698480" y="-73152"/>
            <a:ext cx="1554480" cy="1051560"/>
          </a:xfrm>
          <a:prstGeom prst="parallelogram">
            <a:avLst/>
          </a:prstGeom>
          <a:solidFill>
            <a:srgbClr val="18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201400" y="146304"/>
            <a:ext cx="384048" cy="530352"/>
          </a:xfrm>
          <a:prstGeom prst="ellipse">
            <a:avLst/>
          </a:prstGeom>
          <a:solidFill>
            <a:srgbClr val="3CD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0093"/>
            <a:ext cx="9052560" cy="4770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500" b="1">
                <a:solidFill>
                  <a:srgbClr val="FFFFFF"/>
                </a:solidFill>
                <a:latin typeface="Aptos"/>
              </a:rPr>
              <a:t>3</a:t>
            </a:r>
            <a:r>
              <a:rPr sz="2500" b="1">
                <a:solidFill>
                  <a:srgbClr val="FFFFFF"/>
                </a:solidFill>
                <a:latin typeface="Aptos"/>
              </a:rPr>
              <a:t>.</a:t>
            </a:r>
            <a:r>
              <a:rPr lang="en-US" sz="2500" b="1">
                <a:solidFill>
                  <a:srgbClr val="FFFFFF"/>
                </a:solidFill>
                <a:latin typeface="Aptos"/>
              </a:rPr>
              <a:t>Paper 2-</a:t>
            </a:r>
            <a:r>
              <a:rPr sz="2500" b="1">
                <a:solidFill>
                  <a:srgbClr val="FFFFFF"/>
                </a:solidFill>
                <a:latin typeface="Aptos"/>
              </a:rPr>
              <a:t> ML on Moodle LMS Activity Logs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Aptos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97280"/>
            <a:ext cx="10789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81E3D"/>
                </a:solidFill>
                <a:latin typeface="Aptos"/>
              </a:rPr>
              <a:t>Darmawan (2024) — “Utilizing Machine Learning Techniques for Learning Analytics: A Case Study of Moodle LMS Activity Log Analysis.”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7374E"/>
                </a:solidFill>
                <a:latin typeface="Aptos"/>
              </a:defRPr>
            </a:pPr>
            <a:r>
              <a:t>Dataset: Moodle activity logs from a Digital Society course.</a:t>
            </a:r>
          </a:p>
          <a:p>
            <a:pPr>
              <a:spcAft>
                <a:spcPts val="1000"/>
              </a:spcAft>
              <a:defRPr sz="1800">
                <a:solidFill>
                  <a:srgbClr val="27374E"/>
                </a:solidFill>
                <a:latin typeface="Aptos"/>
              </a:defRPr>
            </a:pPr>
            <a:r>
              <a:t>Variables: PDF-reading frequency, scores, video activity, forums, quizzes, and graduation status.</a:t>
            </a:r>
          </a:p>
          <a:p>
            <a:pPr>
              <a:spcAft>
                <a:spcPts val="1000"/>
              </a:spcAft>
              <a:defRPr sz="1800">
                <a:solidFill>
                  <a:srgbClr val="27374E"/>
                </a:solidFill>
                <a:latin typeface="Aptos"/>
              </a:defRPr>
            </a:pPr>
            <a:r>
              <a:t>Methods: supervised and unsupervised machine-learning approaches.</a:t>
            </a:r>
          </a:p>
          <a:p>
            <a:pPr>
              <a:spcAft>
                <a:spcPts val="1000"/>
              </a:spcAft>
              <a:defRPr sz="1800">
                <a:solidFill>
                  <a:srgbClr val="27374E"/>
                </a:solidFill>
                <a:latin typeface="Aptos"/>
              </a:defRPr>
            </a:pPr>
            <a:r>
              <a:t>Relevance: assessment/progress services can expose data for analytics and early-support features.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841248"/>
          </a:xfrm>
          <a:prstGeom prst="rect">
            <a:avLst/>
          </a:prstGeom>
          <a:solidFill>
            <a:srgbClr val="08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841248"/>
            <a:ext cx="12027103" cy="64008"/>
          </a:xfrm>
          <a:prstGeom prst="rect">
            <a:avLst/>
          </a:prstGeom>
          <a:solidFill>
            <a:srgbClr val="48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10698480" y="-73152"/>
            <a:ext cx="1554480" cy="1051560"/>
          </a:xfrm>
          <a:prstGeom prst="parallelogram">
            <a:avLst/>
          </a:prstGeom>
          <a:solidFill>
            <a:srgbClr val="18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201400" y="146304"/>
            <a:ext cx="384048" cy="530352"/>
          </a:xfrm>
          <a:prstGeom prst="ellipse">
            <a:avLst/>
          </a:prstGeom>
          <a:solidFill>
            <a:srgbClr val="3CD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0093"/>
            <a:ext cx="9052560" cy="4770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500" b="1">
                <a:solidFill>
                  <a:srgbClr val="FFFFFF"/>
                </a:solidFill>
                <a:latin typeface="Aptos"/>
              </a:rPr>
              <a:t>4</a:t>
            </a:r>
            <a:r>
              <a:rPr sz="2500" b="1">
                <a:solidFill>
                  <a:srgbClr val="FFFFFF"/>
                </a:solidFill>
                <a:latin typeface="Aptos"/>
              </a:rPr>
              <a:t>.</a:t>
            </a:r>
            <a:r>
              <a:rPr lang="en-US" sz="2500" b="1">
                <a:solidFill>
                  <a:srgbClr val="FFFFFF"/>
                </a:solidFill>
                <a:latin typeface="Aptos"/>
              </a:rPr>
              <a:t> Paper 3-</a:t>
            </a:r>
            <a:r>
              <a:rPr sz="2500" b="1">
                <a:solidFill>
                  <a:srgbClr val="FFFFFF"/>
                </a:solidFill>
                <a:latin typeface="Aptos"/>
              </a:rPr>
              <a:t>Personalized LMS Using 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Aptos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97280"/>
            <a:ext cx="10789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81E3D"/>
                </a:solidFill>
                <a:latin typeface="Aptos"/>
              </a:rPr>
              <a:t>Kanokngamwitroj &amp; Srisa-An (2022) — “Personalized Learning Management System using a Machine Learning Technique.”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7374E"/>
                </a:solidFill>
                <a:latin typeface="Aptos"/>
              </a:defRPr>
            </a:pPr>
            <a:r>
              <a:t>Objective: classify students into risk groups and provide a self-tutoring program.</a:t>
            </a:r>
          </a:p>
          <a:p>
            <a:pPr>
              <a:spcAft>
                <a:spcPts val="1000"/>
              </a:spcAft>
              <a:defRPr sz="1800">
                <a:solidFill>
                  <a:srgbClr val="27374E"/>
                </a:solidFill>
                <a:latin typeface="Aptos"/>
              </a:defRPr>
            </a:pPr>
            <a:r>
              <a:t>Technique: RSU-ML-PL algorithm for personalized/self-tutoring support.</a:t>
            </a:r>
          </a:p>
          <a:p>
            <a:pPr>
              <a:spcAft>
                <a:spcPts val="1000"/>
              </a:spcAft>
              <a:defRPr sz="1800">
                <a:solidFill>
                  <a:srgbClr val="27374E"/>
                </a:solidFill>
                <a:latin typeface="Aptos"/>
              </a:defRPr>
            </a:pPr>
            <a:r>
              <a:t>Finding: experiments reported improvement in students’ final-exam marks.</a:t>
            </a:r>
          </a:p>
          <a:p>
            <a:pPr>
              <a:spcAft>
                <a:spcPts val="1000"/>
              </a:spcAft>
              <a:defRPr sz="1800">
                <a:solidFill>
                  <a:srgbClr val="27374E"/>
                </a:solidFill>
                <a:latin typeface="Aptos"/>
              </a:defRPr>
            </a:pPr>
            <a:r>
              <a:t>Limitation: personalization is central; distributed architecture and broader service integration are not.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841248"/>
          </a:xfrm>
          <a:prstGeom prst="rect">
            <a:avLst/>
          </a:prstGeom>
          <a:solidFill>
            <a:srgbClr val="08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841248"/>
            <a:ext cx="12027103" cy="64008"/>
          </a:xfrm>
          <a:prstGeom prst="rect">
            <a:avLst/>
          </a:prstGeom>
          <a:solidFill>
            <a:srgbClr val="48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10698480" y="-73152"/>
            <a:ext cx="1554480" cy="1051560"/>
          </a:xfrm>
          <a:prstGeom prst="parallelogram">
            <a:avLst/>
          </a:prstGeom>
          <a:solidFill>
            <a:srgbClr val="18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201400" y="146304"/>
            <a:ext cx="384048" cy="530352"/>
          </a:xfrm>
          <a:prstGeom prst="ellipse">
            <a:avLst/>
          </a:prstGeom>
          <a:solidFill>
            <a:srgbClr val="3CD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0093"/>
            <a:ext cx="9052560" cy="4770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500" b="1">
                <a:solidFill>
                  <a:srgbClr val="FFFFFF"/>
                </a:solidFill>
                <a:latin typeface="Aptos"/>
              </a:rPr>
              <a:t>5</a:t>
            </a:r>
            <a:r>
              <a:rPr sz="2500" b="1">
                <a:solidFill>
                  <a:srgbClr val="FFFFFF"/>
                </a:solidFill>
                <a:latin typeface="Aptos"/>
              </a:rPr>
              <a:t>. </a:t>
            </a:r>
            <a:r>
              <a:rPr lang="en-US" sz="2500" b="1">
                <a:solidFill>
                  <a:srgbClr val="FFFFFF"/>
                </a:solidFill>
                <a:latin typeface="Aptos"/>
              </a:rPr>
              <a:t> Paper 4-</a:t>
            </a:r>
            <a:r>
              <a:rPr sz="2500" b="1">
                <a:solidFill>
                  <a:srgbClr val="FFFFFF"/>
                </a:solidFill>
                <a:latin typeface="Aptos"/>
              </a:rPr>
              <a:t>Privacy-Preserving Learning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Aptos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97280"/>
            <a:ext cx="10789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081E3D"/>
                </a:solidFill>
                <a:latin typeface="Aptos"/>
              </a:rPr>
              <a:t>Tiukhova et al. (2026) — “Open data, private learners: a de-identified student activity and performance dataset for learning analytics.”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73217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7374E"/>
                </a:solidFill>
                <a:latin typeface="Aptos"/>
              </a:defRPr>
            </a:pPr>
            <a:r>
              <a:t>Dataset: de-identified clickstream data from two first-year bachelor courses across three academic years at KU Leuven.</a:t>
            </a:r>
          </a:p>
          <a:p>
            <a:pPr>
              <a:spcAft>
                <a:spcPts val="1000"/>
              </a:spcAft>
              <a:defRPr sz="1800">
                <a:solidFill>
                  <a:srgbClr val="27374E"/>
                </a:solidFill>
                <a:latin typeface="Aptos"/>
              </a:defRPr>
            </a:pPr>
            <a:r>
              <a:t>Contribution: transparent de-identification and privacy/utility validation.</a:t>
            </a:r>
          </a:p>
          <a:p>
            <a:pPr>
              <a:spcAft>
                <a:spcPts val="1000"/>
              </a:spcAft>
              <a:defRPr sz="1800">
                <a:solidFill>
                  <a:srgbClr val="27374E"/>
                </a:solidFill>
                <a:latin typeface="Aptos"/>
              </a:defRPr>
            </a:pPr>
            <a:r>
              <a:t>Key lesson: learner activity data is valuable but sensitive.</a:t>
            </a:r>
          </a:p>
          <a:p>
            <a:pPr>
              <a:spcAft>
                <a:spcPts val="1000"/>
              </a:spcAft>
              <a:defRPr sz="1800">
                <a:solidFill>
                  <a:srgbClr val="27374E"/>
                </a:solidFill>
                <a:latin typeface="Aptos"/>
              </a:defRPr>
            </a:pPr>
            <a:r>
              <a:t>Relevance: distributed services should minimize unnecessary data exposure.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841248"/>
          </a:xfrm>
          <a:prstGeom prst="rect">
            <a:avLst/>
          </a:prstGeom>
          <a:solidFill>
            <a:srgbClr val="08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841248"/>
            <a:ext cx="12027103" cy="64008"/>
          </a:xfrm>
          <a:prstGeom prst="rect">
            <a:avLst/>
          </a:prstGeom>
          <a:solidFill>
            <a:srgbClr val="48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10698480" y="-73152"/>
            <a:ext cx="1554480" cy="1051560"/>
          </a:xfrm>
          <a:prstGeom prst="parallelogram">
            <a:avLst/>
          </a:prstGeom>
          <a:solidFill>
            <a:srgbClr val="18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201400" y="146304"/>
            <a:ext cx="384048" cy="530352"/>
          </a:xfrm>
          <a:prstGeom prst="ellipse">
            <a:avLst/>
          </a:prstGeom>
          <a:solidFill>
            <a:srgbClr val="3CD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0093"/>
            <a:ext cx="9052560" cy="4770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500" b="1">
                <a:solidFill>
                  <a:srgbClr val="FFFFFF"/>
                </a:solidFill>
                <a:latin typeface="Aptos"/>
              </a:rPr>
              <a:t>6</a:t>
            </a:r>
            <a:r>
              <a:rPr sz="2500" b="1">
                <a:solidFill>
                  <a:srgbClr val="FFFFFF"/>
                </a:solidFill>
                <a:latin typeface="Aptos"/>
              </a:rPr>
              <a:t>. Critical Synthesis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Aptos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234440"/>
            <a:ext cx="51663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234440"/>
            <a:ext cx="109728" cy="1828800"/>
          </a:xfrm>
          <a:prstGeom prst="rect">
            <a:avLst/>
          </a:prstGeom>
          <a:solidFill>
            <a:srgbClr val="18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8408" y="1463040"/>
            <a:ext cx="4480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85BBE"/>
                </a:solidFill>
                <a:latin typeface="Aptos"/>
              </a:rPr>
              <a:t>COMMONALITY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1856232"/>
            <a:ext cx="4480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7374E"/>
                </a:solidFill>
                <a:latin typeface="Aptos"/>
              </a:rPr>
              <a:t>Modern LMS research is moving from static content delivery toward scalable, data-driven and personalized learning.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234440"/>
            <a:ext cx="51663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09360" y="1234440"/>
            <a:ext cx="109728" cy="1828800"/>
          </a:xfrm>
          <a:prstGeom prst="rect">
            <a:avLst/>
          </a:prstGeom>
          <a:solidFill>
            <a:srgbClr val="48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01968" y="1463040"/>
            <a:ext cx="4480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48B5E8"/>
                </a:solidFill>
                <a:latin typeface="Aptos"/>
              </a:rPr>
              <a:t>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1856232"/>
            <a:ext cx="4480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7374E"/>
                </a:solidFill>
                <a:latin typeface="Aptos"/>
              </a:rPr>
              <a:t>Architecture studies emphasize modularity and scalability; analytics studies emphasize extracting value from learner traces.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474720"/>
            <a:ext cx="51663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474720"/>
            <a:ext cx="109728" cy="1828800"/>
          </a:xfrm>
          <a:prstGeom prst="rect">
            <a:avLst/>
          </a:prstGeom>
          <a:solidFill>
            <a:srgbClr val="3CD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8408" y="3703320"/>
            <a:ext cx="4480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3CD3D7"/>
                </a:solidFill>
                <a:latin typeface="Aptos"/>
              </a:rPr>
              <a:t>PERSONALIZATION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4096512"/>
            <a:ext cx="4480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7374E"/>
                </a:solidFill>
                <a:latin typeface="Aptos"/>
              </a:rPr>
              <a:t>Personalization studies show the value of ML/AI, but often treat the LMS as a monolithic environment.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474720"/>
            <a:ext cx="51663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3474720"/>
            <a:ext cx="109728" cy="1828800"/>
          </a:xfrm>
          <a:prstGeom prst="rect">
            <a:avLst/>
          </a:prstGeom>
          <a:solidFill>
            <a:srgbClr val="F5B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01968" y="3703320"/>
            <a:ext cx="4480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5B736"/>
                </a:solidFill>
                <a:latin typeface="Aptos"/>
              </a:rPr>
              <a:t>PRIVACY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4096512"/>
            <a:ext cx="44805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27374E"/>
                </a:solidFill>
                <a:latin typeface="Aptos"/>
              </a:rPr>
              <a:t>Privacy research shows learner data needs controlled access and responsible processing.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03120" y="5623560"/>
            <a:ext cx="7955279" cy="548640"/>
          </a:xfrm>
          <a:prstGeom prst="roundRect">
            <a:avLst/>
          </a:prstGeom>
          <a:solidFill>
            <a:srgbClr val="08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331720" y="5715000"/>
            <a:ext cx="749807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Synthesis: an integrated architecture can connect modular services, analytics and personalization.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841248"/>
          </a:xfrm>
          <a:prstGeom prst="rect">
            <a:avLst/>
          </a:prstGeom>
          <a:solidFill>
            <a:srgbClr val="08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841248"/>
            <a:ext cx="12027103" cy="64008"/>
          </a:xfrm>
          <a:prstGeom prst="rect">
            <a:avLst/>
          </a:prstGeom>
          <a:solidFill>
            <a:srgbClr val="48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10698480" y="-73152"/>
            <a:ext cx="1554480" cy="1051560"/>
          </a:xfrm>
          <a:prstGeom prst="parallelogram">
            <a:avLst/>
          </a:prstGeom>
          <a:solidFill>
            <a:srgbClr val="18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201400" y="146304"/>
            <a:ext cx="384048" cy="530352"/>
          </a:xfrm>
          <a:prstGeom prst="ellipse">
            <a:avLst/>
          </a:prstGeom>
          <a:solidFill>
            <a:srgbClr val="3CD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0093"/>
            <a:ext cx="9052560" cy="4770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500" b="1">
                <a:solidFill>
                  <a:srgbClr val="FFFFFF"/>
                </a:solidFill>
                <a:latin typeface="Aptos"/>
              </a:rPr>
              <a:t>7</a:t>
            </a:r>
            <a:r>
              <a:rPr sz="2500" b="1">
                <a:solidFill>
                  <a:srgbClr val="FFFFFF"/>
                </a:solidFill>
                <a:latin typeface="Aptos"/>
              </a:rPr>
              <a:t>. Research Gap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Aptos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097280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14400" y="1216152"/>
            <a:ext cx="960120" cy="502920"/>
          </a:xfrm>
          <a:prstGeom prst="roundRect">
            <a:avLst/>
          </a:prstGeom>
          <a:solidFill>
            <a:srgbClr val="18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1289304"/>
            <a:ext cx="868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GAP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1207007"/>
            <a:ext cx="30175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81E3D"/>
                </a:solidFill>
                <a:latin typeface="Aptos"/>
              </a:rPr>
              <a:t>Architecture vs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170432"/>
            <a:ext cx="58521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74E"/>
                </a:solidFill>
                <a:latin typeface="Aptos"/>
              </a:rPr>
              <a:t>Microservice LMS research and ML-personalization research are often addressed separately.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029967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14400" y="2148839"/>
            <a:ext cx="960120" cy="502920"/>
          </a:xfrm>
          <a:prstGeom prst="roundRect">
            <a:avLst/>
          </a:prstGeom>
          <a:solidFill>
            <a:srgbClr val="18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2221991"/>
            <a:ext cx="868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GAP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2139696"/>
            <a:ext cx="30175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81E3D"/>
                </a:solidFill>
                <a:latin typeface="Aptos"/>
              </a:rPr>
              <a:t>Cross-service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103120"/>
            <a:ext cx="58521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74E"/>
                </a:solidFill>
                <a:latin typeface="Aptos"/>
              </a:rPr>
              <a:t>Fewer works show independently deployable LMS modules working as one platform.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962656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14400" y="3081528"/>
            <a:ext cx="960120" cy="502920"/>
          </a:xfrm>
          <a:prstGeom prst="roundRect">
            <a:avLst/>
          </a:prstGeom>
          <a:solidFill>
            <a:srgbClr val="18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3154680"/>
            <a:ext cx="868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GAP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3072384"/>
            <a:ext cx="30175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81E3D"/>
                </a:solidFill>
                <a:latin typeface="Aptos"/>
              </a:rPr>
              <a:t>Privacy by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035808"/>
            <a:ext cx="58521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74E"/>
                </a:solidFill>
                <a:latin typeface="Aptos"/>
              </a:rPr>
              <a:t>Learner analytics can be valuable, but privacy controls are not always integrated into service boundaries.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895344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14400" y="4014215"/>
            <a:ext cx="960120" cy="502920"/>
          </a:xfrm>
          <a:prstGeom prst="roundRect">
            <a:avLst/>
          </a:prstGeom>
          <a:solidFill>
            <a:srgbClr val="3CD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4087368"/>
            <a:ext cx="868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GAP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48840" y="4005072"/>
            <a:ext cx="30175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81E3D"/>
                </a:solidFill>
                <a:latin typeface="Aptos"/>
              </a:rPr>
              <a:t>Practical student-scale implementation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3968496"/>
            <a:ext cx="58521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74E"/>
                </a:solidFill>
                <a:latin typeface="Aptos"/>
              </a:rPr>
              <a:t>Many works do not demonstrate a complete maintainable academic LMS workflow.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828032"/>
            <a:ext cx="1069848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14400" y="4946904"/>
            <a:ext cx="960120" cy="502920"/>
          </a:xfrm>
          <a:prstGeom prst="roundRect">
            <a:avLst/>
          </a:prstGeom>
          <a:solidFill>
            <a:srgbClr val="3CD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5020056"/>
            <a:ext cx="868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GAP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4937760"/>
            <a:ext cx="30175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081E3D"/>
                </a:solidFill>
                <a:latin typeface="Aptos"/>
              </a:rPr>
              <a:t>Extensibility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4901184"/>
            <a:ext cx="58521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74E"/>
                </a:solidFill>
                <a:latin typeface="Aptos"/>
              </a:rPr>
              <a:t>Intelligent features should be replaceable without rewriting the core LMS.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841248"/>
          </a:xfrm>
          <a:prstGeom prst="rect">
            <a:avLst/>
          </a:prstGeom>
          <a:solidFill>
            <a:srgbClr val="08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841248"/>
            <a:ext cx="12027103" cy="64008"/>
          </a:xfrm>
          <a:prstGeom prst="rect">
            <a:avLst/>
          </a:prstGeom>
          <a:solidFill>
            <a:srgbClr val="48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10698480" y="-73152"/>
            <a:ext cx="1554480" cy="1051560"/>
          </a:xfrm>
          <a:prstGeom prst="parallelogram">
            <a:avLst/>
          </a:prstGeom>
          <a:solidFill>
            <a:srgbClr val="18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201400" y="146304"/>
            <a:ext cx="384048" cy="530352"/>
          </a:xfrm>
          <a:prstGeom prst="ellipse">
            <a:avLst/>
          </a:prstGeom>
          <a:solidFill>
            <a:srgbClr val="3CD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0093"/>
            <a:ext cx="9052560" cy="4770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500" b="1">
                <a:solidFill>
                  <a:srgbClr val="FFFFFF"/>
                </a:solidFill>
                <a:latin typeface="Aptos"/>
              </a:rPr>
              <a:t>8</a:t>
            </a:r>
            <a:r>
              <a:rPr sz="2500" b="1">
                <a:solidFill>
                  <a:srgbClr val="FFFFFF"/>
                </a:solidFill>
                <a:latin typeface="Aptos"/>
              </a:rPr>
              <a:t>. How Our Project Addresses the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Aptos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23444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234440"/>
            <a:ext cx="3429000" cy="100584"/>
          </a:xfrm>
          <a:prstGeom prst="rect">
            <a:avLst/>
          </a:prstGeom>
          <a:solidFill>
            <a:srgbClr val="18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490472"/>
            <a:ext cx="2971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81E3D"/>
                </a:solidFill>
                <a:latin typeface="Aptos"/>
              </a:rPr>
              <a:t>USER &amp; COURSE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11680"/>
            <a:ext cx="2926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74E"/>
                </a:solidFill>
                <a:latin typeface="Aptos"/>
              </a:rPr>
              <a:t>Authentication, roles, profiles, course enrollment.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23444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0" y="1234440"/>
            <a:ext cx="3429000" cy="100584"/>
          </a:xfrm>
          <a:prstGeom prst="rect">
            <a:avLst/>
          </a:prstGeom>
          <a:solidFill>
            <a:srgbClr val="48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09160" y="1490472"/>
            <a:ext cx="2971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81E3D"/>
                </a:solidFill>
                <a:latin typeface="Aptos"/>
              </a:rPr>
              <a:t>LEARNING CONTENT SERVICE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011680"/>
            <a:ext cx="2926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74E"/>
                </a:solidFill>
                <a:latin typeface="Aptos"/>
              </a:rPr>
              <a:t>Modules, resources, and content metadata.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23444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75320" y="1234440"/>
            <a:ext cx="3429000" cy="100584"/>
          </a:xfrm>
          <a:prstGeom prst="rect">
            <a:avLst/>
          </a:prstGeom>
          <a:solidFill>
            <a:srgbClr val="3CD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0" y="1490472"/>
            <a:ext cx="2971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81E3D"/>
                </a:solidFill>
                <a:latin typeface="Aptos"/>
              </a:rPr>
              <a:t>ASSESSMENT &amp; PROGRESS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011680"/>
            <a:ext cx="2926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74E"/>
                </a:solidFill>
                <a:latin typeface="Aptos"/>
              </a:rPr>
              <a:t>Quizzes, submissions, marks, progress tracking.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38328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3383280"/>
            <a:ext cx="3429000" cy="100584"/>
          </a:xfrm>
          <a:prstGeom prst="rect">
            <a:avLst/>
          </a:prstGeom>
          <a:solidFill>
            <a:srgbClr val="F5B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3639312"/>
            <a:ext cx="2971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81E3D"/>
                </a:solidFill>
                <a:latin typeface="Aptos"/>
              </a:rPr>
              <a:t>ANALYTICS / RECOMMENDATION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160520"/>
            <a:ext cx="2926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74E"/>
                </a:solidFill>
                <a:latin typeface="Aptos"/>
              </a:rPr>
              <a:t>Processes learning activity and produces insights or personalized suggestions.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338328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80560" y="3383280"/>
            <a:ext cx="3429000" cy="100584"/>
          </a:xfrm>
          <a:prstGeom prst="rect">
            <a:avLst/>
          </a:prstGeom>
          <a:solidFill>
            <a:srgbClr val="18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09160" y="3639312"/>
            <a:ext cx="2971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81E3D"/>
                </a:solidFill>
                <a:latin typeface="Aptos"/>
              </a:rPr>
              <a:t>API GATEWAY + COMMUNICATION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9160" y="4160520"/>
            <a:ext cx="2926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74E"/>
                </a:solidFill>
                <a:latin typeface="Aptos"/>
              </a:rPr>
              <a:t>Central entry point while keeping modules independently maintainable.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338328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75320" y="3383280"/>
            <a:ext cx="3429000" cy="100584"/>
          </a:xfrm>
          <a:prstGeom prst="rect">
            <a:avLst/>
          </a:prstGeom>
          <a:solidFill>
            <a:srgbClr val="3CD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503920" y="3639312"/>
            <a:ext cx="2971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081E3D"/>
                </a:solidFill>
                <a:latin typeface="Aptos"/>
              </a:rPr>
              <a:t>SECURITY &amp; DATA CONTROLS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160520"/>
            <a:ext cx="292608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7374E"/>
                </a:solidFill>
                <a:latin typeface="Aptos"/>
              </a:rPr>
              <a:t>Role-based access and controlled exposure of student information.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841248"/>
          </a:xfrm>
          <a:prstGeom prst="rect">
            <a:avLst/>
          </a:prstGeom>
          <a:solidFill>
            <a:srgbClr val="08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841248"/>
            <a:ext cx="12027103" cy="64008"/>
          </a:xfrm>
          <a:prstGeom prst="rect">
            <a:avLst/>
          </a:prstGeom>
          <a:solidFill>
            <a:srgbClr val="48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10698480" y="-73152"/>
            <a:ext cx="1554480" cy="1051560"/>
          </a:xfrm>
          <a:prstGeom prst="parallelogram">
            <a:avLst/>
          </a:prstGeom>
          <a:solidFill>
            <a:srgbClr val="18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201400" y="146304"/>
            <a:ext cx="384048" cy="530352"/>
          </a:xfrm>
          <a:prstGeom prst="ellipse">
            <a:avLst/>
          </a:prstGeom>
          <a:solidFill>
            <a:srgbClr val="3CD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0093"/>
            <a:ext cx="9052560" cy="4770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500" b="1">
                <a:solidFill>
                  <a:srgbClr val="FFFFFF"/>
                </a:solidFill>
                <a:latin typeface="Aptos"/>
              </a:rPr>
              <a:t>9</a:t>
            </a:r>
            <a:r>
              <a:rPr sz="2500" b="1">
                <a:solidFill>
                  <a:srgbClr val="FFFFFF"/>
                </a:solidFill>
                <a:latin typeface="Aptos"/>
              </a:rPr>
              <a:t>. Project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Aptos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234440"/>
            <a:ext cx="10424160" cy="23955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7374E"/>
                </a:solidFill>
                <a:latin typeface="Aptos"/>
              </a:defRPr>
            </a:pPr>
            <a:r>
              <a:t>Design a modular distributed backend for core LMS functions.</a:t>
            </a:r>
          </a:p>
          <a:p>
            <a:pPr>
              <a:spcAft>
                <a:spcPts val="1000"/>
              </a:spcAft>
              <a:defRPr sz="1800">
                <a:solidFill>
                  <a:srgbClr val="27374E"/>
                </a:solidFill>
                <a:latin typeface="Aptos"/>
              </a:defRPr>
            </a:pPr>
            <a:r>
              <a:t>Reduce coupling between major LMS modules.</a:t>
            </a:r>
          </a:p>
          <a:p>
            <a:pPr>
              <a:spcAft>
                <a:spcPts val="1000"/>
              </a:spcAft>
              <a:defRPr sz="1800">
                <a:solidFill>
                  <a:srgbClr val="27374E"/>
                </a:solidFill>
                <a:latin typeface="Aptos"/>
              </a:defRPr>
            </a:pPr>
            <a:r>
              <a:rPr lang="en-US">
                <a:ea typeface="+mn-lt"/>
                <a:cs typeface="+mn-lt"/>
              </a:rPr>
              <a:t>Track student learning activities, support personalized learning, </a:t>
            </a:r>
          </a:p>
          <a:p>
            <a:pPr>
              <a:spcAft>
                <a:spcPts val="1000"/>
              </a:spcAft>
              <a:defRPr sz="1800">
                <a:solidFill>
                  <a:srgbClr val="27374E"/>
                </a:solidFill>
                <a:latin typeface="Aptos"/>
              </a:defRPr>
            </a:pPr>
            <a:r>
              <a:rPr lang="en-US">
                <a:ea typeface="+mn-lt"/>
                <a:cs typeface="+mn-lt"/>
              </a:rPr>
              <a:t>maintain security and privacy,  and evaluate the system’s performance.</a:t>
            </a:r>
            <a:endParaRPr lang="en-US"/>
          </a:p>
          <a:p>
            <a:pPr>
              <a:spcAft>
                <a:spcPts val="1000"/>
              </a:spcAft>
              <a:defRPr sz="1800">
                <a:solidFill>
                  <a:srgbClr val="27374E"/>
                </a:solidFill>
                <a:latin typeface="Aptos"/>
              </a:defRPr>
            </a:pPr>
            <a:r>
              <a:t>Evaluate functional correctness, maintainability, scalability and response-time observations.</a:t>
            </a:r>
            <a:endParaRPr lang="en-US"/>
          </a:p>
          <a:p>
            <a:pPr>
              <a:spcAft>
                <a:spcPts val="1000"/>
              </a:spcAft>
              <a:defRPr sz="1800">
                <a:solidFill>
                  <a:srgbClr val="27374E"/>
                </a:solidFill>
                <a:latin typeface="Aptos"/>
              </a:defRPr>
            </a:pPr>
            <a:r>
              <a:rPr lang="en-US">
                <a:ea typeface="+mn-lt"/>
                <a:cs typeface="+mn-lt"/>
              </a:rPr>
              <a:t>Reduce dependency between modules,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841248"/>
          </a:xfrm>
          <a:prstGeom prst="rect">
            <a:avLst/>
          </a:prstGeom>
          <a:solidFill>
            <a:srgbClr val="08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841248"/>
            <a:ext cx="12027103" cy="64008"/>
          </a:xfrm>
          <a:prstGeom prst="rect">
            <a:avLst/>
          </a:prstGeom>
          <a:solidFill>
            <a:srgbClr val="48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10698480" y="-73152"/>
            <a:ext cx="1554480" cy="1051560"/>
          </a:xfrm>
          <a:prstGeom prst="parallelogram">
            <a:avLst/>
          </a:prstGeom>
          <a:solidFill>
            <a:srgbClr val="18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201400" y="146304"/>
            <a:ext cx="384048" cy="530352"/>
          </a:xfrm>
          <a:prstGeom prst="ellipse">
            <a:avLst/>
          </a:prstGeom>
          <a:solidFill>
            <a:srgbClr val="3CD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0093"/>
            <a:ext cx="9052560" cy="4770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500" b="1">
                <a:solidFill>
                  <a:srgbClr val="FFFFFF"/>
                </a:solidFill>
                <a:latin typeface="Aptos"/>
              </a:rPr>
              <a:t>10</a:t>
            </a:r>
            <a:r>
              <a:rPr sz="2500" b="1">
                <a:solidFill>
                  <a:srgbClr val="FFFFFF"/>
                </a:solidFill>
                <a:latin typeface="Aptos"/>
              </a:rPr>
              <a:t>. Proposed Distributed Backend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Aptos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31720"/>
            <a:ext cx="1828800" cy="777240"/>
          </a:xfrm>
          <a:prstGeom prst="roundRect">
            <a:avLst/>
          </a:prstGeom>
          <a:solidFill>
            <a:srgbClr val="18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2487168"/>
            <a:ext cx="160934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Client / Web UI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331720"/>
            <a:ext cx="1828800" cy="777240"/>
          </a:xfrm>
          <a:prstGeom prst="roundRect">
            <a:avLst/>
          </a:prstGeom>
          <a:solidFill>
            <a:srgbClr val="48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52928" y="2487168"/>
            <a:ext cx="160934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API Gateway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1143000"/>
            <a:ext cx="1828800" cy="777240"/>
          </a:xfrm>
          <a:prstGeom prst="roundRect">
            <a:avLst/>
          </a:prstGeom>
          <a:solidFill>
            <a:srgbClr val="3CD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864608" y="1298448"/>
            <a:ext cx="160934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User &amp; Auth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2331720"/>
            <a:ext cx="1828800" cy="777240"/>
          </a:xfrm>
          <a:prstGeom prst="roundRect">
            <a:avLst/>
          </a:prstGeom>
          <a:solidFill>
            <a:srgbClr val="18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64608" y="2487168"/>
            <a:ext cx="160934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Course &amp; Content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3520440"/>
            <a:ext cx="1828800" cy="777240"/>
          </a:xfrm>
          <a:prstGeom prst="roundRect">
            <a:avLst/>
          </a:prstGeom>
          <a:solidFill>
            <a:srgbClr val="F5B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64608" y="3675888"/>
            <a:ext cx="160934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Assessment &amp; Progress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2331720"/>
            <a:ext cx="1828800" cy="777240"/>
          </a:xfrm>
          <a:prstGeom prst="roundRect">
            <a:avLst/>
          </a:prstGeom>
          <a:solidFill>
            <a:srgbClr val="3CD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24927" y="2487168"/>
            <a:ext cx="160934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Analytics / ML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55480" y="2331720"/>
            <a:ext cx="1828800" cy="777240"/>
          </a:xfrm>
          <a:prstGeom prst="roundRect">
            <a:avLst/>
          </a:prstGeom>
          <a:solidFill>
            <a:srgbClr val="08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65207" y="2487168"/>
            <a:ext cx="160934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Data Store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0" y="2715768"/>
            <a:ext cx="182880" cy="3657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0" y="2715768"/>
            <a:ext cx="182880" cy="3657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83680" y="2715768"/>
            <a:ext cx="731519" cy="3657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44000" y="2715768"/>
            <a:ext cx="411479" cy="36576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103120" y="4983480"/>
            <a:ext cx="7955279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81E3D"/>
                </a:solidFill>
                <a:latin typeface="Aptos"/>
              </a:rPr>
              <a:t>Independent services → easier scaling, testing, deployment and maintenance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7103" cy="841248"/>
          </a:xfrm>
          <a:prstGeom prst="rect">
            <a:avLst/>
          </a:prstGeom>
          <a:solidFill>
            <a:srgbClr val="08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841248"/>
            <a:ext cx="12027103" cy="64008"/>
          </a:xfrm>
          <a:prstGeom prst="rect">
            <a:avLst/>
          </a:prstGeom>
          <a:solidFill>
            <a:srgbClr val="48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10698480" y="-73152"/>
            <a:ext cx="1554480" cy="1051560"/>
          </a:xfrm>
          <a:prstGeom prst="parallelogram">
            <a:avLst/>
          </a:prstGeom>
          <a:solidFill>
            <a:srgbClr val="18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201400" y="146304"/>
            <a:ext cx="384048" cy="530352"/>
          </a:xfrm>
          <a:prstGeom prst="ellipse">
            <a:avLst/>
          </a:prstGeom>
          <a:solidFill>
            <a:srgbClr val="3CD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0093"/>
            <a:ext cx="9052560" cy="4770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500" b="1">
                <a:solidFill>
                  <a:srgbClr val="FFFFFF"/>
                </a:solidFill>
                <a:latin typeface="Aptos"/>
              </a:rPr>
              <a:t>11</a:t>
            </a:r>
            <a:r>
              <a:rPr sz="2500" b="1">
                <a:solidFill>
                  <a:srgbClr val="FFFFFF"/>
                </a:solidFill>
                <a:latin typeface="Aptos"/>
              </a:rPr>
              <a:t>. Comparative Analysis of Key Papers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502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1">
                <a:solidFill>
                  <a:srgbClr val="64748B"/>
                </a:solidFill>
                <a:latin typeface="Aptos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234440"/>
            <a:ext cx="1920240" cy="594360"/>
          </a:xfrm>
          <a:prstGeom prst="rect">
            <a:avLst/>
          </a:prstGeom>
          <a:solidFill>
            <a:srgbClr val="08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1" y="1344168"/>
            <a:ext cx="177393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Study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1234440"/>
            <a:ext cx="2834640" cy="594360"/>
          </a:xfrm>
          <a:prstGeom prst="rect">
            <a:avLst/>
          </a:prstGeom>
          <a:solidFill>
            <a:srgbClr val="08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16352" y="1344168"/>
            <a:ext cx="268833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Main Focus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234440"/>
            <a:ext cx="2331720" cy="594360"/>
          </a:xfrm>
          <a:prstGeom prst="rect">
            <a:avLst/>
          </a:prstGeom>
          <a:solidFill>
            <a:srgbClr val="08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33872" y="1344168"/>
            <a:ext cx="218541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Strength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234440"/>
            <a:ext cx="3063240" cy="594360"/>
          </a:xfrm>
          <a:prstGeom prst="rect">
            <a:avLst/>
          </a:prstGeom>
          <a:solidFill>
            <a:srgbClr val="08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39912" y="1344168"/>
            <a:ext cx="291693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Limitation / Gap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1874519"/>
            <a:ext cx="1920240" cy="786384"/>
          </a:xfrm>
          <a:prstGeom prst="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19" y="1947672"/>
            <a:ext cx="1737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81E3D"/>
                </a:solidFill>
                <a:latin typeface="Aptos"/>
              </a:rPr>
              <a:t>Niemelä &amp; Hyyrö (2019)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1874519"/>
            <a:ext cx="2834640" cy="786384"/>
          </a:xfrm>
          <a:prstGeom prst="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34640" y="1947672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7374E"/>
                </a:solidFill>
                <a:latin typeface="Aptos"/>
              </a:rPr>
              <a:t>Microservice LMS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1874519"/>
            <a:ext cx="2331720" cy="786384"/>
          </a:xfrm>
          <a:prstGeom prst="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52159" y="1947672"/>
            <a:ext cx="214883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7374E"/>
                </a:solidFill>
                <a:latin typeface="Aptos"/>
              </a:rPr>
              <a:t>Modularity &amp; fault tolerance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66760" y="1874519"/>
            <a:ext cx="3063240" cy="786384"/>
          </a:xfrm>
          <a:prstGeom prst="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58200" y="1947672"/>
            <a:ext cx="2880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7374E"/>
                </a:solidFill>
                <a:latin typeface="Aptos"/>
              </a:rPr>
              <a:t>Does not integrate ML personalization.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2715768"/>
            <a:ext cx="1920240" cy="786384"/>
          </a:xfrm>
          <a:prstGeom prst="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19" y="2788920"/>
            <a:ext cx="1737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81E3D"/>
                </a:solidFill>
                <a:latin typeface="Aptos"/>
              </a:rPr>
              <a:t>Darmawan (2024)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2715768"/>
            <a:ext cx="2834640" cy="786384"/>
          </a:xfrm>
          <a:prstGeom prst="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834640" y="2788920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7374E"/>
                </a:solidFill>
                <a:latin typeface="Aptos"/>
              </a:rPr>
              <a:t>ML learning analytics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720" y="2715768"/>
            <a:ext cx="2331720" cy="786384"/>
          </a:xfrm>
          <a:prstGeom prst="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852159" y="2788920"/>
            <a:ext cx="214883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7374E"/>
                </a:solidFill>
                <a:latin typeface="Aptos"/>
              </a:rPr>
              <a:t>Uses learner activity logs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66760" y="2715768"/>
            <a:ext cx="3063240" cy="786384"/>
          </a:xfrm>
          <a:prstGeom prst="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58200" y="2788920"/>
            <a:ext cx="2880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7374E"/>
                </a:solidFill>
                <a:latin typeface="Aptos"/>
              </a:rPr>
              <a:t>Not focused on distributed architecture.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3557015"/>
            <a:ext cx="1920240" cy="786384"/>
          </a:xfrm>
          <a:prstGeom prst="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1519" y="3630168"/>
            <a:ext cx="1737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81E3D"/>
                </a:solidFill>
                <a:latin typeface="Aptos"/>
              </a:rPr>
              <a:t>Kanokngamwitroj &amp; Srisa-An (2022)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0" y="3557015"/>
            <a:ext cx="2834640" cy="786384"/>
          </a:xfrm>
          <a:prstGeom prst="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834640" y="3630168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7374E"/>
                </a:solidFill>
                <a:latin typeface="Aptos"/>
              </a:rPr>
              <a:t>Personalized LMS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60720" y="3557015"/>
            <a:ext cx="2331720" cy="786384"/>
          </a:xfrm>
          <a:prstGeom prst="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852159" y="3630168"/>
            <a:ext cx="214883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7374E"/>
                </a:solidFill>
                <a:latin typeface="Aptos"/>
              </a:rPr>
              <a:t>ML-based self-tutoring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66760" y="3557015"/>
            <a:ext cx="3063240" cy="786384"/>
          </a:xfrm>
          <a:prstGeom prst="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58200" y="3630168"/>
            <a:ext cx="2880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7374E"/>
                </a:solidFill>
                <a:latin typeface="Aptos"/>
              </a:rPr>
              <a:t>Architecture remains outside the main focus.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398264"/>
            <a:ext cx="1920240" cy="786384"/>
          </a:xfrm>
          <a:prstGeom prst="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1519" y="4471416"/>
            <a:ext cx="1737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081E3D"/>
                </a:solidFill>
                <a:latin typeface="Aptos"/>
              </a:rPr>
              <a:t>Tiukhova et al. (2026)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0" y="4398264"/>
            <a:ext cx="2834640" cy="786384"/>
          </a:xfrm>
          <a:prstGeom prst="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834640" y="4471416"/>
            <a:ext cx="2651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7374E"/>
                </a:solidFill>
                <a:latin typeface="Aptos"/>
              </a:rPr>
              <a:t>Privacy-aware analytics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60720" y="4398264"/>
            <a:ext cx="2331720" cy="786384"/>
          </a:xfrm>
          <a:prstGeom prst="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852159" y="4471416"/>
            <a:ext cx="2148839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7374E"/>
                </a:solidFill>
                <a:latin typeface="Aptos"/>
              </a:rPr>
              <a:t>De-identification &amp; validation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66760" y="4398264"/>
            <a:ext cx="3063240" cy="786384"/>
          </a:xfrm>
          <a:prstGeom prst="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458200" y="4471416"/>
            <a:ext cx="28803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27374E"/>
                </a:solidFill>
                <a:latin typeface="Aptos"/>
              </a:rPr>
              <a:t>Privacy lesson needs architectural integration.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8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0"/>
            <a:ext cx="12024360" cy="841248"/>
          </a:xfrm>
          <a:prstGeom prst="rect">
            <a:avLst/>
          </a:prstGeom>
          <a:solidFill>
            <a:srgbClr val="08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841248"/>
            <a:ext cx="12024360" cy="64008"/>
          </a:xfrm>
          <a:prstGeom prst="rect">
            <a:avLst/>
          </a:prstGeom>
          <a:solidFill>
            <a:srgbClr val="48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10698480" y="-73152"/>
            <a:ext cx="1554480" cy="1051560"/>
          </a:xfrm>
          <a:prstGeom prst="parallelogram">
            <a:avLst/>
          </a:prstGeom>
          <a:solidFill>
            <a:srgbClr val="18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57787"/>
            <a:ext cx="96012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2400" b="1">
                <a:solidFill>
                  <a:srgbClr val="FFFFFF"/>
                </a:solidFill>
                <a:latin typeface="Aptos"/>
              </a:rPr>
              <a:t>12</a:t>
            </a:r>
            <a:r>
              <a:rPr sz="2400" b="1">
                <a:solidFill>
                  <a:srgbClr val="FFFFFF"/>
                </a:solidFill>
                <a:latin typeface="Aptos"/>
              </a:rPr>
              <a:t>. Existing Solutions &amp; Our Proposed Differentiation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987552"/>
            <a:ext cx="108813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81E3D"/>
                </a:solidFill>
                <a:latin typeface="Aptos"/>
              </a:rPr>
              <a:t>Existing LMS platforms already provide core learning functions. Our project focuses on how these capabilities are integrated through a modular architecture.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91640"/>
            <a:ext cx="3493008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691640"/>
            <a:ext cx="3493008" cy="118872"/>
          </a:xfrm>
          <a:prstGeom prst="rect">
            <a:avLst/>
          </a:prstGeom>
          <a:solidFill>
            <a:srgbClr val="18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938528"/>
            <a:ext cx="312724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85BBE"/>
                </a:solidFill>
                <a:latin typeface="Aptos"/>
              </a:rPr>
              <a:t>EXISTING LMS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2615184"/>
            <a:ext cx="118872" cy="118872"/>
          </a:xfrm>
          <a:prstGeom prst="ellipse">
            <a:avLst/>
          </a:prstGeom>
          <a:solidFill>
            <a:srgbClr val="18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42416" y="2542032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74E"/>
                </a:solidFill>
                <a:latin typeface="Aptos"/>
              </a:rPr>
              <a:t>Course &amp; content management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438144"/>
            <a:ext cx="118872" cy="118872"/>
          </a:xfrm>
          <a:prstGeom prst="ellipse">
            <a:avLst/>
          </a:prstGeom>
          <a:solidFill>
            <a:srgbClr val="18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42416" y="3364991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74E"/>
                </a:solidFill>
                <a:latin typeface="Aptos"/>
              </a:rPr>
              <a:t>Assignments, quizzes and grading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261104"/>
            <a:ext cx="118872" cy="118872"/>
          </a:xfrm>
          <a:prstGeom prst="ellipse">
            <a:avLst/>
          </a:prstGeom>
          <a:solidFill>
            <a:srgbClr val="18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2416" y="4187952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74E"/>
                </a:solidFill>
                <a:latin typeface="Aptos"/>
              </a:rPr>
              <a:t>Progress and learning analytics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5084064"/>
            <a:ext cx="118872" cy="118872"/>
          </a:xfrm>
          <a:prstGeom prst="ellipse">
            <a:avLst/>
          </a:prstGeom>
          <a:solidFill>
            <a:srgbClr val="18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42416" y="5010912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74E"/>
                </a:solidFill>
                <a:latin typeface="Aptos"/>
              </a:rPr>
              <a:t>Communication and integrations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1691640"/>
            <a:ext cx="3493008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89120" y="1691640"/>
            <a:ext cx="3493008" cy="118872"/>
          </a:xfrm>
          <a:prstGeom prst="rect">
            <a:avLst/>
          </a:prstGeom>
          <a:solidFill>
            <a:srgbClr val="48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0" y="1938528"/>
            <a:ext cx="312724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48B5E8"/>
                </a:solidFill>
                <a:latin typeface="Aptos"/>
              </a:rPr>
              <a:t>RESEARCH OPPORTUNITY</a:t>
            </a:r>
          </a:p>
        </p:txBody>
      </p:sp>
      <p:sp>
        <p:nvSpPr>
          <p:cNvPr id="22" name="Oval 21"/>
          <p:cNvSpPr/>
          <p:nvPr/>
        </p:nvSpPr>
        <p:spPr>
          <a:xfrm>
            <a:off x="4645152" y="2615184"/>
            <a:ext cx="118872" cy="118872"/>
          </a:xfrm>
          <a:prstGeom prst="ellipse">
            <a:avLst/>
          </a:prstGeom>
          <a:solidFill>
            <a:srgbClr val="48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64608" y="2542032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74E"/>
                </a:solidFill>
                <a:latin typeface="Aptos"/>
              </a:rPr>
              <a:t>Architecture, analytics, personalization and privacy are often studied separately</a:t>
            </a:r>
          </a:p>
        </p:txBody>
      </p:sp>
      <p:sp>
        <p:nvSpPr>
          <p:cNvPr id="24" name="Oval 23"/>
          <p:cNvSpPr/>
          <p:nvPr/>
        </p:nvSpPr>
        <p:spPr>
          <a:xfrm>
            <a:off x="4645152" y="3438144"/>
            <a:ext cx="118872" cy="118872"/>
          </a:xfrm>
          <a:prstGeom prst="ellipse">
            <a:avLst/>
          </a:prstGeom>
          <a:solidFill>
            <a:srgbClr val="48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64608" y="3364991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74E"/>
                </a:solidFill>
                <a:latin typeface="Aptos"/>
              </a:rPr>
              <a:t>Cross-service integration is less clearly demonstrated</a:t>
            </a:r>
          </a:p>
        </p:txBody>
      </p:sp>
      <p:sp>
        <p:nvSpPr>
          <p:cNvPr id="26" name="Oval 25"/>
          <p:cNvSpPr/>
          <p:nvPr/>
        </p:nvSpPr>
        <p:spPr>
          <a:xfrm>
            <a:off x="4645152" y="4261104"/>
            <a:ext cx="118872" cy="118872"/>
          </a:xfrm>
          <a:prstGeom prst="ellipse">
            <a:avLst/>
          </a:prstGeom>
          <a:solidFill>
            <a:srgbClr val="48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64608" y="4187952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74E"/>
                </a:solidFill>
                <a:latin typeface="Aptos"/>
              </a:rPr>
              <a:t>Learner data needs controlled exposure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11311" y="1691640"/>
            <a:ext cx="3493008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211311" y="1691640"/>
            <a:ext cx="3493008" cy="118872"/>
          </a:xfrm>
          <a:prstGeom prst="rect">
            <a:avLst/>
          </a:prstGeom>
          <a:solidFill>
            <a:srgbClr val="3CD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94191" y="1938528"/>
            <a:ext cx="312724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3CD3D7"/>
                </a:solidFill>
                <a:latin typeface="Aptos"/>
              </a:rPr>
              <a:t>OUR MODIFICATION</a:t>
            </a:r>
          </a:p>
        </p:txBody>
      </p:sp>
      <p:sp>
        <p:nvSpPr>
          <p:cNvPr id="31" name="Oval 30"/>
          <p:cNvSpPr/>
          <p:nvPr/>
        </p:nvSpPr>
        <p:spPr>
          <a:xfrm>
            <a:off x="8467343" y="2615184"/>
            <a:ext cx="118872" cy="118872"/>
          </a:xfrm>
          <a:prstGeom prst="ellipse">
            <a:avLst/>
          </a:prstGeom>
          <a:solidFill>
            <a:srgbClr val="3CD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799" y="2542032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74E"/>
                </a:solidFill>
                <a:latin typeface="Aptos"/>
              </a:rPr>
              <a:t>Student-scale modular LMS</a:t>
            </a:r>
          </a:p>
        </p:txBody>
      </p:sp>
      <p:sp>
        <p:nvSpPr>
          <p:cNvPr id="33" name="Oval 32"/>
          <p:cNvSpPr/>
          <p:nvPr/>
        </p:nvSpPr>
        <p:spPr>
          <a:xfrm>
            <a:off x="8467343" y="3438144"/>
            <a:ext cx="118872" cy="118872"/>
          </a:xfrm>
          <a:prstGeom prst="ellipse">
            <a:avLst/>
          </a:prstGeom>
          <a:solidFill>
            <a:srgbClr val="3CD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86799" y="3364991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74E"/>
                </a:solidFill>
                <a:latin typeface="Aptos"/>
              </a:rPr>
              <a:t>Independent User, Course, Assessment and Analytics services</a:t>
            </a:r>
          </a:p>
        </p:txBody>
      </p:sp>
      <p:sp>
        <p:nvSpPr>
          <p:cNvPr id="35" name="Oval 34"/>
          <p:cNvSpPr/>
          <p:nvPr/>
        </p:nvSpPr>
        <p:spPr>
          <a:xfrm>
            <a:off x="8467343" y="4261104"/>
            <a:ext cx="118872" cy="118872"/>
          </a:xfrm>
          <a:prstGeom prst="ellipse">
            <a:avLst/>
          </a:prstGeom>
          <a:solidFill>
            <a:srgbClr val="3CD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86799" y="4187952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74E"/>
                </a:solidFill>
                <a:latin typeface="Aptos"/>
              </a:rPr>
              <a:t>API Gateway for service communication</a:t>
            </a:r>
          </a:p>
        </p:txBody>
      </p:sp>
      <p:sp>
        <p:nvSpPr>
          <p:cNvPr id="37" name="Oval 36"/>
          <p:cNvSpPr/>
          <p:nvPr/>
        </p:nvSpPr>
        <p:spPr>
          <a:xfrm>
            <a:off x="8467343" y="5084064"/>
            <a:ext cx="118872" cy="118872"/>
          </a:xfrm>
          <a:prstGeom prst="ellipse">
            <a:avLst/>
          </a:prstGeom>
          <a:solidFill>
            <a:srgbClr val="3CD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86799" y="5010912"/>
            <a:ext cx="27432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27374E"/>
                </a:solidFill>
                <a:latin typeface="Aptos"/>
              </a:rPr>
              <a:t>Integrated analytics/recommendation + privacy-aware data handling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325880" y="6144768"/>
            <a:ext cx="9555480" cy="438912"/>
          </a:xfrm>
          <a:prstGeom prst="roundRect">
            <a:avLst/>
          </a:prstGeom>
          <a:solidFill>
            <a:srgbClr val="08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508760" y="6199632"/>
            <a:ext cx="9189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Key contribution: integrate modular architecture, analytics, personalization and privacy-aware controls in one academic LMS.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B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6766560" y="-365760"/>
            <a:ext cx="5303520" cy="3840480"/>
          </a:xfrm>
          <a:prstGeom prst="parallelogram">
            <a:avLst/>
          </a:prstGeom>
          <a:solidFill>
            <a:srgbClr val="18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7772400" y="1005840"/>
            <a:ext cx="4023360" cy="3200400"/>
          </a:xfrm>
          <a:prstGeom prst="parallelogram">
            <a:avLst/>
          </a:prstGeom>
          <a:solidFill>
            <a:srgbClr val="48B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Hexagon 4"/>
          <p:cNvSpPr/>
          <p:nvPr/>
        </p:nvSpPr>
        <p:spPr>
          <a:xfrm>
            <a:off x="8412480" y="3749039"/>
            <a:ext cx="1828800" cy="1920240"/>
          </a:xfrm>
          <a:prstGeom prst="hexagon">
            <a:avLst/>
          </a:prstGeom>
          <a:solidFill>
            <a:srgbClr val="3CD3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5303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788920"/>
            <a:ext cx="585216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48B5E8"/>
                </a:solidFill>
                <a:latin typeface="Aptos"/>
              </a:rPr>
              <a:t>Smart Learning Management System
with Distributed Backend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60520"/>
            <a:ext cx="29260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5B736"/>
                </a:solidFill>
                <a:latin typeface="Aptos"/>
              </a:rPr>
              <a:t>Project Review –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1</cp:revision>
  <dcterms:created xsi:type="dcterms:W3CDTF">2013-01-27T09:14:16Z</dcterms:created>
  <dcterms:modified xsi:type="dcterms:W3CDTF">2026-08-18T05:57:52Z</dcterms:modified>
  <cp:category/>
</cp:coreProperties>
</file>