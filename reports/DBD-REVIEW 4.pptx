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60"/>
  </p:normalViewPr>
  <p:slideViewPr>
    <p:cSldViewPr snapToGrid="0" snapToObjects="1">
      <p:cViewPr>
        <p:scale>
          <a:sx n="68" d="100"/>
          <a:sy n="68" d="100"/>
        </p:scale>
        <p:origin x="5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201168"/>
            <a:ext cx="1170432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753161"/>
            <a:ext cx="9720072" cy="48320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2900" b="1">
                <a:solidFill>
                  <a:srgbClr val="1223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PROJECT-BASED LEARNING – REVIEW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6012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2600" b="1">
                <a:solidFill>
                  <a:srgbClr val="2363BE"/>
                </a:solidFill>
                <a:latin typeface="Aptos"/>
              </a:defRPr>
            </a:pPr>
            <a:r>
              <a:t>Smart Learning Management System (SLMS)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21408"/>
            <a:ext cx="932688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009BAA"/>
                </a:solidFill>
                <a:latin typeface="Aptos"/>
              </a:defRPr>
            </a:pPr>
            <a:r>
              <a:t>AI &amp; DS  •  Academic Year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788920"/>
            <a:ext cx="64008" cy="233172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487375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500" b="1">
                <a:solidFill>
                  <a:srgbClr val="122341"/>
                </a:solidFill>
                <a:latin typeface="Aptos"/>
              </a:defRPr>
            </a:pPr>
            <a:r>
              <a:t>Student /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55848"/>
            <a:ext cx="4873752" cy="1636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100" b="0">
                <a:solidFill>
                  <a:srgbClr val="5C6778"/>
                </a:solidFill>
                <a:latin typeface="Aptos"/>
              </a:defRPr>
            </a:pPr>
            <a:r>
              <a:t>Deekshitha – 2510080059</a:t>
            </a:r>
            <a:br/>
            <a:r>
              <a:t>Arshitha – 2510080063</a:t>
            </a:r>
            <a:br/>
            <a:r>
              <a:t>SravanaLakshmi – 2510080065</a:t>
            </a:r>
            <a:br/>
            <a:r>
              <a:t>TanuSri – 2510080020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7889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2788920"/>
            <a:ext cx="64008" cy="233172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2898648"/>
            <a:ext cx="487375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500" b="1">
                <a:solidFill>
                  <a:srgbClr val="122341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355848"/>
            <a:ext cx="4873752" cy="1636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100" b="0">
                <a:solidFill>
                  <a:srgbClr val="5C6778"/>
                </a:solidFill>
                <a:latin typeface="Aptos"/>
              </a:defRPr>
            </a:pPr>
            <a:r>
              <a:t>Faculty Mentor: Dr. Melinda</a:t>
            </a:r>
            <a:br/>
            <a:r>
              <a:t>Department: AI and DS</a:t>
            </a:r>
            <a:br/>
            <a:r>
              <a:t>Project: Smart Learning Management System</a:t>
            </a:r>
            <a:br/>
            <a:r>
              <a:t>Review: PBL Review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5486400"/>
            <a:ext cx="7543800" cy="530352"/>
          </a:xfrm>
          <a:prstGeom prst="round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559552"/>
            <a:ext cx="726948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1200" b="1">
                <a:solidFill>
                  <a:srgbClr val="2363BE"/>
                </a:solidFill>
                <a:latin typeface="Aptos"/>
              </a:defRPr>
            </a:pPr>
            <a:r>
              <a:t>Smart • Connected • Student-Centered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defRPr sz="850" b="1">
                <a:solidFill>
                  <a:srgbClr val="5C67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What SLMS is designed to achieve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64008" cy="169164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Centralized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Provide one platform for learning resources, activities, and academic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55448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554480"/>
            <a:ext cx="64008" cy="1691640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71907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User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7627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Enable secure registration, login, and role-based access for learners and administrators.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55448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1554480"/>
            <a:ext cx="64008" cy="16916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0688" y="171907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Interactive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17627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Support forms, learning activities, progress tracking, and responsive interaction.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64008" cy="169164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95935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Data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1655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Store, update, retrieve, and manage learning records efficiently through a database.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94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3794760"/>
            <a:ext cx="64008" cy="169164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395935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Analytics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41655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Present dashboards and measurable outputs that help users understand learning progress.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794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9520" y="3794760"/>
            <a:ext cx="64008" cy="1691640"/>
          </a:xfrm>
          <a:prstGeom prst="rect">
            <a:avLst/>
          </a:prstGeom>
          <a:solidFill>
            <a:srgbClr val="CD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90688" y="3959352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Scalable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4416552"/>
            <a:ext cx="2697480" cy="9144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50">
                <a:solidFill>
                  <a:srgbClr val="5C6778"/>
                </a:solidFill>
                <a:latin typeface="Aptos"/>
              </a:defRPr>
            </a:pPr>
            <a:r>
              <a:t>Create a modular foundation that can be extended with additional APIs and smart features.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Project Development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Iterative workflow used to build and validate the SLMS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874519"/>
            <a:ext cx="914400" cy="914400"/>
          </a:xfrm>
          <a:prstGeom prst="ellipse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Requirement</a:t>
            </a:r>
            <a:br/>
            <a:r>
              <a:t>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2331720"/>
            <a:ext cx="960120" cy="0"/>
          </a:xfrm>
          <a:prstGeom prst="line">
            <a:avLst/>
          </a:prstGeom>
          <a:ln w="31750">
            <a:solidFill>
              <a:srgbClr val="694B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68880" y="1874519"/>
            <a:ext cx="914400" cy="914400"/>
          </a:xfrm>
          <a:prstGeom prst="ellipse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UI / UX</a:t>
            </a:r>
            <a:br/>
            <a:r>
              <a:t>Design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2331720"/>
            <a:ext cx="960120" cy="0"/>
          </a:xfrm>
          <a:prstGeom prst="line">
            <a:avLst/>
          </a:prstGeom>
          <a:ln w="31750">
            <a:solidFill>
              <a:srgbClr val="23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43400" y="1874519"/>
            <a:ext cx="914400" cy="914400"/>
          </a:xfrm>
          <a:prstGeom prst="ellipse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Frontend</a:t>
            </a:r>
            <a:br/>
            <a:r>
              <a:t>Development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7800" y="2331720"/>
            <a:ext cx="960120" cy="0"/>
          </a:xfrm>
          <a:prstGeom prst="line">
            <a:avLst/>
          </a:prstGeom>
          <a:ln w="31750">
            <a:solidFill>
              <a:srgbClr val="00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217920" y="1874519"/>
            <a:ext cx="914400" cy="914400"/>
          </a:xfrm>
          <a:prstGeom prst="ellips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Backend + API</a:t>
            </a:r>
            <a:br/>
            <a:r>
              <a:t>Integration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331720"/>
            <a:ext cx="960120" cy="0"/>
          </a:xfrm>
          <a:prstGeom prst="line">
            <a:avLst/>
          </a:prstGeom>
          <a:ln w="31750">
            <a:solidFill>
              <a:srgbClr val="EF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92440" y="1874519"/>
            <a:ext cx="914400" cy="914400"/>
          </a:xfrm>
          <a:prstGeom prst="ellipse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Database</a:t>
            </a:r>
            <a:br/>
            <a:r>
              <a:t>Integration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2331720"/>
            <a:ext cx="960120" cy="0"/>
          </a:xfrm>
          <a:prstGeom prst="line">
            <a:avLst/>
          </a:prstGeom>
          <a:ln w="31750">
            <a:solidFill>
              <a:srgbClr val="2A9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66960" y="1874519"/>
            <a:ext cx="914400" cy="914400"/>
          </a:xfrm>
          <a:prstGeom prst="ellipse">
            <a:avLst/>
          </a:prstGeom>
          <a:solidFill>
            <a:srgbClr val="CD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60" y="2048256"/>
            <a:ext cx="9144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926080"/>
            <a:ext cx="155448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122341"/>
                </a:solidFill>
              </a:defRPr>
            </a:pPr>
            <a:r>
              <a:t>Testing +</a:t>
            </a:r>
            <a:br/>
            <a:r>
              <a:t>Refinement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16052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4160520"/>
            <a:ext cx="64008" cy="118872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" y="4325112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Build →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782312"/>
            <a:ext cx="27432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Implement each module, then validate its expected behavior.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16052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26280" y="4160520"/>
            <a:ext cx="64008" cy="118872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27448" y="4325112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Integrate →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7448" y="4782312"/>
            <a:ext cx="27432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Connect frontend, API, and database layers and verify data flow.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16052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4160520"/>
            <a:ext cx="64008" cy="118872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39328" y="4325112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Refine → Demonstrate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4782312"/>
            <a:ext cx="27432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Fix issues and prepare measurable results for review.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Project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Technology stack and development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64008" cy="1645920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67335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055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HTML5 • CSS3 • JavaScript</a:t>
            </a:r>
            <a:br/>
            <a:r>
              <a:t>Responsive UI and client-side interactions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50876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508760"/>
            <a:ext cx="64008" cy="164592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67335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3055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RESTful server-side logic</a:t>
            </a:r>
            <a:br/>
            <a:r>
              <a:t>Authentication and business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50876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1508760"/>
            <a:ext cx="64008" cy="164592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0688" y="167335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13055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Structured storage for users,</a:t>
            </a:r>
            <a:br/>
            <a:r>
              <a:t>learning data and application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64008" cy="164592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86791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2511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HTTP/REST communication</a:t>
            </a:r>
            <a:br/>
            <a:r>
              <a:t>Request → Processing →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0332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3703320"/>
            <a:ext cx="64008" cy="164592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386791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32511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VS Code / IDE</a:t>
            </a:r>
            <a:br/>
            <a:r>
              <a:t>Browser • Local server • Git/GitHub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703320"/>
            <a:ext cx="3063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9520" y="3703320"/>
            <a:ext cx="64008" cy="1645920"/>
          </a:xfrm>
          <a:prstGeom prst="rect">
            <a:avLst/>
          </a:prstGeom>
          <a:solidFill>
            <a:srgbClr val="CD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90688" y="3867911"/>
            <a:ext cx="26974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4325112"/>
            <a:ext cx="2697480" cy="8686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t>Validation • CRUD operations</a:t>
            </a:r>
            <a:br/>
            <a:r>
              <a:t>Search/filtering • Dashboard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High-level flow of information through the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691640" cy="1188720"/>
          </a:xfrm>
          <a:prstGeom prst="roundRect">
            <a:avLst/>
          </a:prstGeom>
          <a:solidFill>
            <a:srgbClr val="E1EDFA"/>
          </a:solidFill>
          <a:ln w="19050">
            <a:solidFill>
              <a:srgbClr val="23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313432"/>
            <a:ext cx="1545336" cy="10424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400" b="1">
                <a:solidFill>
                  <a:srgbClr val="122341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502152"/>
            <a:ext cx="1545336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>
                <a:solidFill>
                  <a:srgbClr val="5C6778"/>
                </a:solidFill>
              </a:defRPr>
            </a:pPr>
            <a:r>
              <a:t>User actions</a:t>
            </a:r>
            <a:br/>
            <a:r>
              <a:t>&amp;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834640"/>
            <a:ext cx="502920" cy="0"/>
          </a:xfrm>
          <a:prstGeom prst="line">
            <a:avLst/>
          </a:prstGeom>
          <a:ln w="31750">
            <a:solidFill>
              <a:srgbClr val="23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2240280"/>
            <a:ext cx="1691640" cy="1188720"/>
          </a:xfrm>
          <a:prstGeom prst="roundRect">
            <a:avLst/>
          </a:prstGeom>
          <a:solidFill>
            <a:srgbClr val="E1F6F6"/>
          </a:solidFill>
          <a:ln w="19050">
            <a:solidFill>
              <a:srgbClr val="009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62072" y="2313432"/>
            <a:ext cx="1545336" cy="10424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400" b="1">
                <a:solidFill>
                  <a:srgbClr val="12234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502152"/>
            <a:ext cx="1545336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>
                <a:solidFill>
                  <a:srgbClr val="5C6778"/>
                </a:solidFill>
              </a:defRPr>
            </a:pPr>
            <a:r>
              <a:t>UI rendering</a:t>
            </a:r>
            <a:br/>
            <a:r>
              <a:t>&amp;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2834640"/>
            <a:ext cx="502920" cy="0"/>
          </a:xfrm>
          <a:prstGeom prst="line">
            <a:avLst/>
          </a:prstGeom>
          <a:ln w="31750">
            <a:solidFill>
              <a:srgbClr val="00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3480" y="2240280"/>
            <a:ext cx="1691640" cy="1188720"/>
          </a:xfrm>
          <a:prstGeom prst="roundRect">
            <a:avLst/>
          </a:prstGeom>
          <a:solidFill>
            <a:srgbClr val="EEE8F9"/>
          </a:solidFill>
          <a:ln w="19050">
            <a:solidFill>
              <a:srgbClr val="694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6632" y="2313432"/>
            <a:ext cx="1545336" cy="10424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400" b="1">
                <a:solidFill>
                  <a:srgbClr val="122341"/>
                </a:solidFill>
                <a:latin typeface="Aptos"/>
              </a:defRPr>
            </a:pPr>
            <a:r>
              <a:t>API /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02152"/>
            <a:ext cx="1545336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>
                <a:solidFill>
                  <a:srgbClr val="5C6778"/>
                </a:solidFill>
              </a:defRPr>
            </a:pPr>
            <a:r>
              <a:t>Business logic</a:t>
            </a:r>
            <a:br/>
            <a:r>
              <a:t>&amp; 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2834640"/>
            <a:ext cx="502920" cy="0"/>
          </a:xfrm>
          <a:prstGeom prst="line">
            <a:avLst/>
          </a:prstGeom>
          <a:ln w="31750">
            <a:solidFill>
              <a:srgbClr val="694B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78040" y="2240280"/>
            <a:ext cx="1691640" cy="1188720"/>
          </a:xfrm>
          <a:prstGeom prst="roundRect">
            <a:avLst/>
          </a:prstGeom>
          <a:solidFill>
            <a:srgbClr val="FDEFD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51192" y="2313432"/>
            <a:ext cx="1545336" cy="10424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400" b="1">
                <a:solidFill>
                  <a:srgbClr val="12234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502152"/>
            <a:ext cx="1545336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>
                <a:solidFill>
                  <a:srgbClr val="5C6778"/>
                </a:solidFill>
              </a:defRPr>
            </a:pPr>
            <a:r>
              <a:t>Store / retrieve</a:t>
            </a:r>
            <a:br/>
            <a:r>
              <a:t>records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0" y="2834640"/>
            <a:ext cx="502920" cy="0"/>
          </a:xfrm>
          <a:prstGeom prst="line">
            <a:avLst/>
          </a:prstGeom>
          <a:ln w="31750">
            <a:solidFill>
              <a:srgbClr val="EF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2240280"/>
            <a:ext cx="1691640" cy="1188720"/>
          </a:xfrm>
          <a:prstGeom prst="roundRect">
            <a:avLst/>
          </a:prstGeom>
          <a:solidFill>
            <a:srgbClr val="E5F6ED"/>
          </a:solidFill>
          <a:ln w="19050">
            <a:solidFill>
              <a:srgbClr val="2A9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45752" y="2313432"/>
            <a:ext cx="1545336" cy="10424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400" b="1">
                <a:solidFill>
                  <a:srgbClr val="122341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3502152"/>
            <a:ext cx="1545336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>
                <a:solidFill>
                  <a:srgbClr val="5C6778"/>
                </a:solidFill>
              </a:defRPr>
            </a:pPr>
            <a:r>
              <a:t>Results shown</a:t>
            </a:r>
            <a:br/>
            <a:r>
              <a:t>back to user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444752" y="4480560"/>
            <a:ext cx="8778240" cy="0"/>
          </a:xfrm>
          <a:prstGeom prst="line">
            <a:avLst/>
          </a:prstGeom>
          <a:ln w="25400">
            <a:solidFill>
              <a:srgbClr val="2A9C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97680" y="4617720"/>
            <a:ext cx="36576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2A9C68"/>
                </a:solidFill>
              </a:defRPr>
            </a:pPr>
            <a:r>
              <a:t>Processed result / confirmation returned to the 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Screens / Working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/>
            </a:pPr>
            <a:r>
              <a:rPr sz="1200">
                <a:solidFill>
                  <a:srgbClr val="5C6778"/>
                </a:solidFill>
                <a:latin typeface="Aptos"/>
              </a:rPr>
              <a:t>Representative UI layouts — replace with actual project screenshots if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057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057400" cy="411480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2648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1832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12848"/>
            <a:ext cx="178308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122341"/>
                </a:solidFill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78308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</a:defRPr>
            </a:pPr>
            <a:r>
              <a:t>Username / Email</a:t>
            </a:r>
            <a:br/>
            <a:r>
              <a:t>Password</a:t>
            </a:r>
            <a:br/>
            <a:br/>
            <a:r>
              <a:t>[  LOGIN 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51960"/>
            <a:ext cx="868680" cy="320040"/>
          </a:xfrm>
          <a:prstGeom prst="round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279392"/>
            <a:ext cx="8686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1600200"/>
            <a:ext cx="2057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88920" y="1600200"/>
            <a:ext cx="2057400" cy="41148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898648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063240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227832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79" y="2212848"/>
            <a:ext cx="178308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122341"/>
                </a:solidFill>
              </a:defRPr>
            </a:pPr>
            <a:r>
              <a:t>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2697480"/>
            <a:ext cx="178308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</a:defRPr>
            </a:pPr>
            <a:r>
              <a:t>Welcome to SLMS</a:t>
            </a:r>
            <a:br/>
            <a:r>
              <a:t>Courses • Resources • 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79" y="4251960"/>
            <a:ext cx="868680" cy="320040"/>
          </a:xfrm>
          <a:prstGeom prst="round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79" y="4279392"/>
            <a:ext cx="8686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1600200"/>
            <a:ext cx="2057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74920" y="1600200"/>
            <a:ext cx="2057400" cy="41148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184648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349240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13832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0" y="2212848"/>
            <a:ext cx="178308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122341"/>
                </a:solidFill>
              </a:defRPr>
            </a:pPr>
            <a:r>
              <a:t>MAIN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697480"/>
            <a:ext cx="178308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</a:defRPr>
            </a:pPr>
            <a:r>
              <a:t>Learning modules</a:t>
            </a:r>
            <a:br/>
            <a:r>
              <a:t>Assignments • Materials • Activities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4251960"/>
            <a:ext cx="868680" cy="320040"/>
          </a:xfrm>
          <a:prstGeom prst="round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0" y="4279392"/>
            <a:ext cx="8686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1600200"/>
            <a:ext cx="2057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1600200"/>
            <a:ext cx="2057400" cy="41148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70648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35240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99831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0" y="2212848"/>
            <a:ext cx="178308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122341"/>
                </a:solidFill>
              </a:defRPr>
            </a:pPr>
            <a:r>
              <a:t>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2697480"/>
            <a:ext cx="178308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</a:defRPr>
            </a:pPr>
            <a:r>
              <a:t>Course / Record</a:t>
            </a:r>
            <a:br/>
            <a:r>
              <a:t>[ Input field ]</a:t>
            </a:r>
            <a:br/>
            <a:r>
              <a:t>[ Submit 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251960"/>
            <a:ext cx="868680" cy="320040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80" y="4279392"/>
            <a:ext cx="8686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1600200"/>
            <a:ext cx="2057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646920" y="1600200"/>
            <a:ext cx="2057400" cy="41148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756648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921240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085832" y="17190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0" y="2212848"/>
            <a:ext cx="178308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122341"/>
                </a:solidFill>
              </a:defRPr>
            </a:pPr>
            <a:r>
              <a:t>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2697480"/>
            <a:ext cx="178308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</a:defRPr>
            </a:pPr>
            <a:r>
              <a:t>Progress  78%</a:t>
            </a:r>
            <a:br/>
            <a:r>
              <a:t>Completed  12 / 15</a:t>
            </a:r>
            <a:br/>
            <a:r>
              <a:t>Recent activity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0" y="4251960"/>
            <a:ext cx="868680" cy="320040"/>
          </a:xfrm>
          <a:prstGeom prst="round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41280" y="4279392"/>
            <a:ext cx="8686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" y="5257800"/>
            <a:ext cx="10195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60120" y="5257800"/>
            <a:ext cx="64008" cy="77724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61288" y="5422392"/>
            <a:ext cx="982980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341"/>
                </a:solidFill>
                <a:latin typeface="Aptos"/>
              </a:defRPr>
            </a:pPr>
            <a:r>
              <a:t>Expected Demonstration 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5715000"/>
            <a:ext cx="982980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rPr sz="1400" dirty="0"/>
              <a:t>Login → Home → Main Application → Form Submission → Dashboard /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Functional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Capabilities demonstrated by the implemented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463040"/>
            <a:ext cx="64008" cy="1298448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627632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Registration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084832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Users can create/access accounts through the authentication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630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1463040"/>
            <a:ext cx="64008" cy="1298448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7" y="1627632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084832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Records can be added, viewed, updated, and deleted.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64008" cy="1298448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227832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Search &amp; 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85032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Application data can be located quickly using search/filter controls.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0632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59" y="3063240"/>
            <a:ext cx="64008" cy="1298448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7" y="3227832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API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685032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Frontend sends requests to backend services and receives structured responses.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634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663440"/>
            <a:ext cx="64008" cy="1298448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" y="4828031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Database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5285231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Application records are persisted and retrieved from the database layer.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663440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59" y="4663440"/>
            <a:ext cx="64008" cy="1298448"/>
          </a:xfrm>
          <a:prstGeom prst="rect">
            <a:avLst/>
          </a:prstGeom>
          <a:solidFill>
            <a:srgbClr val="CD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7" y="4828031"/>
            <a:ext cx="46177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341"/>
                </a:solidFill>
                <a:latin typeface="Aptos"/>
              </a:defRPr>
            </a:pPr>
            <a:r>
              <a:t>Reports /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7" y="5285231"/>
            <a:ext cx="4617720" cy="5212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80">
                <a:solidFill>
                  <a:srgbClr val="5C6778"/>
                </a:solidFill>
                <a:latin typeface="Aptos"/>
              </a:defRPr>
            </a:pPr>
            <a:r>
              <a:t>Processed information is summarized into user-friendly outputs.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Testing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Functional test cases and observed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057400" cy="530352"/>
          </a:xfrm>
          <a:prstGeom prst="rect">
            <a:avLst/>
          </a:prstGeom>
          <a:solidFill>
            <a:srgbClr val="12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536192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Test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417320"/>
            <a:ext cx="3063240" cy="530352"/>
          </a:xfrm>
          <a:prstGeom prst="rect">
            <a:avLst/>
          </a:prstGeom>
          <a:solidFill>
            <a:srgbClr val="12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536192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3063240" cy="530352"/>
          </a:xfrm>
          <a:prstGeom prst="rect">
            <a:avLst/>
          </a:prstGeom>
          <a:solidFill>
            <a:srgbClr val="12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72" y="1536192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Actual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417320"/>
            <a:ext cx="1417320" cy="530352"/>
          </a:xfrm>
          <a:prstGeom prst="rect">
            <a:avLst/>
          </a:prstGeom>
          <a:solidFill>
            <a:srgbClr val="12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1536192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947672"/>
            <a:ext cx="2057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1" y="2112264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1947672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70632" y="2112264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Successful login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947672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2112264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Successful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947672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2" y="2112264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1">
                <a:solidFill>
                  <a:srgbClr val="2A9C68"/>
                </a:solidFill>
              </a:defRPr>
            </a:pPr>
            <a: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06039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1" y="2770632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Add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606039"/>
            <a:ext cx="306324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70632" y="2770632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Record added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606039"/>
            <a:ext cx="306324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33872" y="2770632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Added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606039"/>
            <a:ext cx="14173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97112" y="2770632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1">
                <a:solidFill>
                  <a:srgbClr val="2A9C68"/>
                </a:solidFill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264408"/>
            <a:ext cx="2057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1" y="3429000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Update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326440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70632" y="3429000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Record updated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26440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33872" y="3429000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Updated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3264408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97112" y="3429000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1">
                <a:solidFill>
                  <a:srgbClr val="2A9C68"/>
                </a:solidFill>
              </a:defRPr>
            </a:pPr>
            <a: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922776"/>
            <a:ext cx="205740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1" y="4087368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Delete Record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3922776"/>
            <a:ext cx="306324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70632" y="4087368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Record deleted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922776"/>
            <a:ext cx="306324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33872" y="4087368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Deleted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3922776"/>
            <a:ext cx="14173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97112" y="4087368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1">
                <a:solidFill>
                  <a:srgbClr val="2A9C68"/>
                </a:solidFill>
              </a:defRPr>
            </a:pPr>
            <a: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581144"/>
            <a:ext cx="2057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1" y="4745736"/>
            <a:ext cx="1911095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API Request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4581144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70632" y="4745736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Correct response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4581144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833872" y="4745736"/>
            <a:ext cx="291693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0">
                <a:solidFill>
                  <a:srgbClr val="232B38"/>
                </a:solidFill>
              </a:defRPr>
            </a:pPr>
            <a:r>
              <a:t>Correct response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4581144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97112" y="4745736"/>
            <a:ext cx="1271016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50" b="1">
                <a:solidFill>
                  <a:srgbClr val="2A9C68"/>
                </a:solidFill>
              </a:defRPr>
            </a:pPr>
            <a:r>
              <a:t>PASS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228" y="5568743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3231" y="5605743"/>
            <a:ext cx="64008" cy="68580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29968" y="5605272"/>
            <a:ext cx="8046719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341"/>
                </a:solidFill>
                <a:latin typeface="Aptos"/>
              </a:defRPr>
            </a:pPr>
            <a:r>
              <a:rPr dirty="0"/>
              <a:t>Testing Summary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29968" y="5824728"/>
            <a:ext cx="8046719" cy="192024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>
                <a:solidFill>
                  <a:srgbClr val="5C6778"/>
                </a:solidFill>
                <a:latin typeface="Aptos"/>
              </a:defRPr>
            </a:pPr>
            <a:r>
              <a:rPr sz="1400" dirty="0"/>
              <a:t>5 core functional cases executed • 5 successful • 0 failed in the demonstrated test set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201168"/>
            <a:ext cx="1170432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38912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2800" b="1">
                <a:solidFill>
                  <a:srgbClr val="122341"/>
                </a:solidFill>
                <a:latin typeface="Aptos"/>
              </a:defRPr>
            </a:pPr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60120"/>
            <a:ext cx="93268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0">
                <a:solidFill>
                  <a:srgbClr val="5C6778"/>
                </a:solidFill>
                <a:latin typeface="Aptos"/>
              </a:defRPr>
            </a:pPr>
            <a:r>
              <a:t>Simple measurable indicators for the demonstrated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691640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Typical application interaction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2363BE"/>
                </a:solidFill>
                <a:latin typeface="Aptos"/>
              </a:defRPr>
            </a:pPr>
            <a:r>
              <a:t>&lt; 1.5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508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96512" y="1508760"/>
            <a:ext cx="64008" cy="169164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67335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1168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Core functional cases evaluated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46888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009B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50876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07224" y="1508760"/>
            <a:ext cx="64008" cy="169164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54112" y="167335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Successful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201168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All listed cases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46888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2A9C68"/>
                </a:solidFill>
                <a:latin typeface="Aptos"/>
              </a:defRPr>
            </a:pPr>
            <a:r>
              <a:t>5 /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64008" cy="169164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86791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Error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20624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Observed in the demonstrated test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EF8936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6512" y="370332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2" y="3703320"/>
            <a:ext cx="64008" cy="16916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386791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DB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20624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Target for common CRUD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66344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694BAF"/>
                </a:solidFill>
                <a:latin typeface="Aptos"/>
              </a:defRPr>
            </a:pPr>
            <a:r>
              <a:t>&lt; 1 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07224" y="370332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07224" y="3703320"/>
            <a:ext cx="64008" cy="1691640"/>
          </a:xfrm>
          <a:prstGeom prst="rect">
            <a:avLst/>
          </a:prstGeom>
          <a:solidFill>
            <a:srgbClr val="CD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54112" y="3867911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122341"/>
                </a:solidFill>
                <a:latin typeface="Aptos"/>
              </a:defRPr>
            </a:pPr>
            <a:r>
              <a:t>API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4206240"/>
            <a:ext cx="251460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919" b="0">
                <a:solidFill>
                  <a:srgbClr val="5C6778"/>
                </a:solidFill>
                <a:latin typeface="Aptos"/>
              </a:defRPr>
            </a:pPr>
            <a:r>
              <a:t>Target for standard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0104" y="4663440"/>
            <a:ext cx="2697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2300" b="1">
                <a:solidFill>
                  <a:srgbClr val="CD4146"/>
                </a:solidFill>
                <a:latin typeface="Aptos"/>
              </a:defRPr>
            </a:pPr>
            <a:r>
              <a:t>&lt; 1.5 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5806440"/>
            <a:ext cx="8549640" cy="502920"/>
          </a:xfrm>
          <a:prstGeom prst="roundRect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5960" y="5897880"/>
            <a:ext cx="8275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 sz="1100" b="1">
                <a:solidFill>
                  <a:srgbClr val="694BAF"/>
                </a:solidFill>
                <a:latin typeface="Aptos"/>
              </a:defRPr>
            </a:pPr>
            <a:r>
              <a:t>5 core test cases evaluated  •  5 successful  •  0% observed error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defRPr sz="850" b="1">
                <a:solidFill>
                  <a:srgbClr val="5C67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5257800"/>
            <a:ext cx="1463040" cy="1463040"/>
          </a:xfrm>
          <a:prstGeom prst="ellipse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4709160"/>
            <a:ext cx="731520" cy="731520"/>
          </a:xfrm>
          <a:prstGeom prst="ellipse">
            <a:avLst/>
          </a:prstGeom>
          <a:solidFill>
            <a:srgbClr val="E1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6080760"/>
            <a:ext cx="1097280" cy="1097280"/>
          </a:xfrm>
          <a:prstGeom prst="ellipse">
            <a:avLst/>
          </a:prstGeom>
          <a:solidFill>
            <a:srgbClr val="EE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6" name="Picture 5" descr="image(20261005-1452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8912"/>
            <a:ext cx="96926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2800" b="1">
                <a:solidFill>
                  <a:srgbClr val="122341"/>
                </a:solidFill>
                <a:latin typeface="Aptos Display"/>
              </a:rPr>
              <a:t>Results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87552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r>
              <a:rPr sz="1200">
                <a:solidFill>
                  <a:srgbClr val="5C6778"/>
                </a:solidFill>
                <a:latin typeface="Aptos"/>
              </a:rPr>
              <a:t>What the implementation and testing indicate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20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64008" cy="4251960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4754879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341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4572000" cy="32461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spcAft>
                <a:spcPts val="900"/>
              </a:spcAft>
              <a:defRPr sz="1050">
                <a:solidFill>
                  <a:srgbClr val="232B38"/>
                </a:solidFill>
                <a:latin typeface="Aptos"/>
              </a:defRPr>
            </a:pPr>
            <a:r>
              <a:t>• Core user and record-management workflows are implemented.</a:t>
            </a:r>
          </a:p>
          <a:p>
            <a:pPr>
              <a:spcAft>
                <a:spcPts val="900"/>
              </a:spcAft>
              <a:defRPr sz="1050">
                <a:solidFill>
                  <a:srgbClr val="232B38"/>
                </a:solidFill>
                <a:latin typeface="Aptos"/>
              </a:defRPr>
            </a:pPr>
            <a:r>
              <a:t>• Frontend, backend/API, and database layers follow a clear separation of responsibilities.</a:t>
            </a:r>
          </a:p>
          <a:p>
            <a:pPr>
              <a:spcAft>
                <a:spcPts val="900"/>
              </a:spcAft>
              <a:defRPr sz="1050">
                <a:solidFill>
                  <a:srgbClr val="232B38"/>
                </a:solidFill>
                <a:latin typeface="Aptos"/>
              </a:defRPr>
            </a:pPr>
            <a:r>
              <a:t>• Functional testing of the demonstrated cases produced successful results.</a:t>
            </a:r>
          </a:p>
          <a:p>
            <a:pPr>
              <a:spcAft>
                <a:spcPts val="900"/>
              </a:spcAft>
              <a:defRPr sz="1050">
                <a:solidFill>
                  <a:srgbClr val="232B38"/>
                </a:solidFill>
                <a:latin typeface="Aptos"/>
              </a:defRPr>
            </a:pPr>
            <a:r>
              <a:t>• Search, filtering, CRUD, and API-driven operations support practical LMS workflows.</a:t>
            </a:r>
          </a:p>
          <a:p>
            <a:pPr>
              <a:spcAft>
                <a:spcPts val="900"/>
              </a:spcAft>
              <a:defRPr sz="1050">
                <a:solidFill>
                  <a:srgbClr val="232B38"/>
                </a:solidFill>
                <a:latin typeface="Aptos"/>
              </a:defRPr>
            </a:pPr>
            <a:r>
              <a:t>• Dashboard-style outputs make application results easier to interpret.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64008" cy="4251960"/>
          </a:xfrm>
          <a:prstGeom prst="rect">
            <a:avLst/>
          </a:prstGeom>
          <a:solidFill>
            <a:srgbClr val="2A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581912"/>
            <a:ext cx="484632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341"/>
                </a:solidFill>
                <a:latin typeface="Aptos"/>
              </a:defRPr>
            </a:pPr>
            <a:r>
              <a:t>Test Outcome</a:t>
            </a:r>
          </a:p>
        </p:txBody>
      </p:sp>
      <p:sp>
        <p:nvSpPr>
          <p:cNvPr id="16" name="Oval 15"/>
          <p:cNvSpPr/>
          <p:nvPr/>
        </p:nvSpPr>
        <p:spPr>
          <a:xfrm>
            <a:off x="7909560" y="1965960"/>
            <a:ext cx="1828800" cy="1828800"/>
          </a:xfrm>
          <a:prstGeom prst="ellipse">
            <a:avLst/>
          </a:prstGeom>
          <a:solidFill>
            <a:srgbClr val="E5F6ED"/>
          </a:solidFill>
          <a:ln w="38100">
            <a:solidFill>
              <a:srgbClr val="2A9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2487168"/>
            <a:ext cx="182880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700" b="1">
                <a:solidFill>
                  <a:srgbClr val="2A9C68"/>
                </a:solidFill>
              </a:defRPr>
            </a:pPr>
            <a:r>
              <a:t>5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977639"/>
            <a:ext cx="283464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500" b="1">
                <a:solidFill>
                  <a:srgbClr val="122341"/>
                </a:solidFill>
              </a:defRPr>
            </a:pPr>
            <a:r>
              <a:t>Core test cases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4663440"/>
            <a:ext cx="3474720" cy="347472"/>
          </a:xfrm>
          <a:prstGeom prst="roundRect">
            <a:avLst/>
          </a:prstGeom>
          <a:solidFill>
            <a:srgbClr val="E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4681727"/>
            <a:ext cx="347472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000" b="1">
                <a:solidFill>
                  <a:srgbClr val="2363BE"/>
                </a:solidFill>
                <a:latin typeface="Aptos"/>
              </a:defRPr>
            </a:pPr>
            <a:r>
              <a:t>Ready for further enhancement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1">
                <a:solidFill>
                  <a:srgbClr val="5C67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38912"/>
            <a:ext cx="96012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2800" b="1">
                <a:solidFill>
                  <a:srgbClr val="122341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941832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1200" b="0">
                <a:solidFill>
                  <a:srgbClr val="5C6778"/>
                </a:solidFill>
                <a:latin typeface="Aptos"/>
              </a:defRPr>
            </a:pPr>
            <a:r>
              <a:t>Final assessment and planned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3886200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89204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1400" b="1">
                <a:solidFill>
                  <a:srgbClr val="12234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892040" cy="32461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1050" b="0">
                <a:solidFill>
                  <a:srgbClr val="5C6778"/>
                </a:solidFill>
                <a:latin typeface="Aptos"/>
              </a:defRPr>
            </a:pPr>
            <a:r>
              <a:t>• The project objectives have been achieved through a structured SLMS workflow.</a:t>
            </a:r>
            <a:br/>
            <a:br/>
            <a:r>
              <a:t>• User management, CRUD operations, API communication, database integration and dashboard outputs are demonstrated.</a:t>
            </a:r>
            <a:br/>
            <a:br/>
            <a:r>
              <a:t>• Functional testing confirms the core workflows operate as expected.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3886200"/>
          </a:xfrm>
          <a:prstGeom prst="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89204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1400" b="1">
                <a:solidFill>
                  <a:srgbClr val="122341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39112"/>
            <a:ext cx="4892040" cy="32461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l">
              <a:defRPr sz="1050" b="0">
                <a:solidFill>
                  <a:srgbClr val="5C6778"/>
                </a:solidFill>
                <a:latin typeface="Aptos"/>
              </a:defRPr>
            </a:pPr>
            <a:r>
              <a:t>• Add more learning and assessment features</a:t>
            </a:r>
            <a:br/>
            <a:br/>
            <a:r>
              <a:t>• Introduce richer analytics and personalized recommendations</a:t>
            </a:r>
            <a:br/>
            <a:br/>
            <a:r>
              <a:t>• Add notifications and stronger role-based security</a:t>
            </a:r>
            <a:br/>
            <a:br/>
            <a:r>
              <a:t>• Deploy the platform to cloud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850" b="1">
                <a:solidFill>
                  <a:srgbClr val="5C67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"/>
            <a:ext cx="1143000" cy="1160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74519"/>
            <a:ext cx="10332720" cy="7315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3800" b="1">
                <a:solidFill>
                  <a:srgbClr val="12234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9418320" cy="5486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200" b="1">
                <a:solidFill>
                  <a:srgbClr val="2363BE"/>
                </a:solidFill>
                <a:latin typeface="Aptos"/>
              </a:defRPr>
            </a:pPr>
            <a:r>
              <a:t>Smart Learning Management System (SLMS)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039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500" b="0">
                <a:solidFill>
                  <a:srgbClr val="5C6778"/>
                </a:solidFill>
                <a:latin typeface="Aptos"/>
              </a:defRPr>
            </a:pPr>
            <a:r>
              <a:t>Project-Based Learning – Review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4343400"/>
            <a:ext cx="6400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4572000"/>
            <a:ext cx="603504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009BAA"/>
                </a:solidFill>
                <a:latin typeface="Aptos"/>
              </a:defRPr>
            </a:pPr>
            <a:r>
              <a:t>Deekshitha • Arshitha • SravanaLakshmi • TanuSri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850" b="1">
                <a:solidFill>
                  <a:srgbClr val="5C67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915</Words>
  <Application>Microsoft Office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Gannoji_Arshitha</dc:creator>
  <cp:keywords/>
  <dc:description>generated using python-pptx</dc:description>
  <cp:lastModifiedBy>Arshitha Gannoji</cp:lastModifiedBy>
  <cp:revision>2</cp:revision>
  <dcterms:created xsi:type="dcterms:W3CDTF">2013-01-27T09:14:16Z</dcterms:created>
  <dcterms:modified xsi:type="dcterms:W3CDTF">2026-10-05T15:14:52Z</dcterms:modified>
  <cp:category/>
</cp:coreProperties>
</file>